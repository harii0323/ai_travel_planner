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odel3d1.glb" ContentType="model/gltf.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86" r:id="rId2"/>
    <p:sldId id="258" r:id="rId3"/>
    <p:sldId id="259" r:id="rId4"/>
    <p:sldId id="260" r:id="rId5"/>
    <p:sldId id="261" r:id="rId6"/>
    <p:sldId id="262" r:id="rId7"/>
    <p:sldId id="263" r:id="rId8"/>
    <p:sldId id="287" r:id="rId9"/>
    <p:sldId id="288" r:id="rId10"/>
    <p:sldId id="289" r:id="rId11"/>
    <p:sldId id="266" r:id="rId12"/>
    <p:sldId id="282" r:id="rId13"/>
    <p:sldId id="2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96" autoAdjust="0"/>
    <p:restoredTop sz="94660"/>
  </p:normalViewPr>
  <p:slideViewPr>
    <p:cSldViewPr snapToGrid="0">
      <p:cViewPr varScale="1">
        <p:scale>
          <a:sx n="129" d="100"/>
          <a:sy n="129" d="100"/>
        </p:scale>
        <p:origin x="208"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3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3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3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3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fld id="{C4E08799-5971-469E-B6BD-5EA248E22CB0}" type="datetimeFigureOut">
              <a:rPr lang="en-IN" smtClean="0"/>
              <a:t>17/09/26</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9" name="Title 1"/>
          <p:cNvSpPr>
            <a:spLocks noGrp="1"/>
          </p:cNvSpPr>
          <p:nvPr>
            <p:ph type="title"/>
          </p:nvPr>
        </p:nvSpPr>
        <p:spPr/>
        <p:txBody>
          <a:bodyPr/>
          <a:lstStyle/>
          <a:p>
            <a:r>
              <a:rPr lang="en-US"/>
              <a:t>Click to edit Master title style</a:t>
            </a:r>
            <a:endParaRPr lang="en-IN"/>
          </a:p>
        </p:txBody>
      </p:sp>
      <p:sp>
        <p:nvSpPr>
          <p:cNvPr id="1048590"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91" name="Date Placeholder 3"/>
          <p:cNvSpPr>
            <a:spLocks noGrp="1"/>
          </p:cNvSpPr>
          <p:nvPr>
            <p:ph type="dt" sz="half" idx="10"/>
          </p:nvPr>
        </p:nvSpPr>
        <p:spPr/>
        <p:txBody>
          <a:bodyPr/>
          <a:lstStyle/>
          <a:p>
            <a:fld id="{C4E08799-5971-469E-B6BD-5EA248E22CB0}" type="datetimeFigureOut">
              <a:rPr lang="en-IN" smtClean="0"/>
              <a:t>17/09/26</a:t>
            </a:fld>
            <a:endParaRPr lang="en-IN"/>
          </a:p>
        </p:txBody>
      </p:sp>
      <p:sp>
        <p:nvSpPr>
          <p:cNvPr id="1048592" name="Footer Placeholder 4"/>
          <p:cNvSpPr>
            <a:spLocks noGrp="1"/>
          </p:cNvSpPr>
          <p:nvPr>
            <p:ph type="ftr" sz="quarter" idx="11"/>
          </p:nvPr>
        </p:nvSpPr>
        <p:spPr/>
        <p:txBody>
          <a:bodyPr/>
          <a:lstStyle/>
          <a:p>
            <a:endParaRPr lang="en-IN"/>
          </a:p>
        </p:txBody>
      </p:sp>
      <p:sp>
        <p:nvSpPr>
          <p:cNvPr id="1048593" name="Slide Number Placeholder 5"/>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9"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710"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48711" name="Date Placeholder 3"/>
          <p:cNvSpPr>
            <a:spLocks noGrp="1"/>
          </p:cNvSpPr>
          <p:nvPr>
            <p:ph type="dt" sz="half" idx="10"/>
          </p:nvPr>
        </p:nvSpPr>
        <p:spPr/>
        <p:txBody>
          <a:bodyPr/>
          <a:lstStyle/>
          <a:p>
            <a:fld id="{C4E08799-5971-469E-B6BD-5EA248E22CB0}" type="datetimeFigureOut">
              <a:rPr lang="en-IN" smtClean="0"/>
              <a:t>17/09/26</a:t>
            </a:fld>
            <a:endParaRPr lang="en-IN"/>
          </a:p>
        </p:txBody>
      </p:sp>
      <p:sp>
        <p:nvSpPr>
          <p:cNvPr id="1048712" name="Footer Placeholder 4"/>
          <p:cNvSpPr>
            <a:spLocks noGrp="1"/>
          </p:cNvSpPr>
          <p:nvPr>
            <p:ph type="ftr" sz="quarter" idx="11"/>
          </p:nvPr>
        </p:nvSpPr>
        <p:spPr/>
        <p:txBody>
          <a:bodyPr/>
          <a:lstStyle/>
          <a:p>
            <a:endParaRPr lang="en-IN"/>
          </a:p>
        </p:txBody>
      </p:sp>
      <p:sp>
        <p:nvSpPr>
          <p:cNvPr id="1048713" name="Slide Number Placeholder 5"/>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4" name="Title 1"/>
          <p:cNvSpPr>
            <a:spLocks noGrp="1"/>
          </p:cNvSpPr>
          <p:nvPr>
            <p:ph type="title"/>
          </p:nvPr>
        </p:nvSpPr>
        <p:spPr/>
        <p:txBody>
          <a:bodyPr/>
          <a:lstStyle/>
          <a:p>
            <a:r>
              <a:rPr lang="en-US"/>
              <a:t>Click to edit Master title style</a:t>
            </a:r>
            <a:endParaRPr lang="en-IN"/>
          </a:p>
        </p:txBody>
      </p:sp>
      <p:sp>
        <p:nvSpPr>
          <p:cNvPr id="1048715"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6"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7" name="Date Placeholder 4"/>
          <p:cNvSpPr>
            <a:spLocks noGrp="1"/>
          </p:cNvSpPr>
          <p:nvPr>
            <p:ph type="dt" sz="half" idx="10"/>
          </p:nvPr>
        </p:nvSpPr>
        <p:spPr/>
        <p:txBody>
          <a:bodyPr/>
          <a:lstStyle/>
          <a:p>
            <a:fld id="{C4E08799-5971-469E-B6BD-5EA248E22CB0}" type="datetimeFigureOut">
              <a:rPr lang="en-IN" smtClean="0"/>
              <a:t>17/09/26</a:t>
            </a:fld>
            <a:endParaRPr lang="en-IN"/>
          </a:p>
        </p:txBody>
      </p:sp>
      <p:sp>
        <p:nvSpPr>
          <p:cNvPr id="1048718" name="Footer Placeholder 5"/>
          <p:cNvSpPr>
            <a:spLocks noGrp="1"/>
          </p:cNvSpPr>
          <p:nvPr>
            <p:ph type="ftr" sz="quarter" idx="11"/>
          </p:nvPr>
        </p:nvSpPr>
        <p:spPr/>
        <p:txBody>
          <a:bodyPr/>
          <a:lstStyle/>
          <a:p>
            <a:endParaRPr lang="en-IN"/>
          </a:p>
        </p:txBody>
      </p:sp>
      <p:sp>
        <p:nvSpPr>
          <p:cNvPr id="1048719" name="Slide Number Placeholder 6"/>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06"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07"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608"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09"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610"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11" name="Date Placeholder 6"/>
          <p:cNvSpPr>
            <a:spLocks noGrp="1"/>
          </p:cNvSpPr>
          <p:nvPr>
            <p:ph type="dt" sz="half" idx="10"/>
          </p:nvPr>
        </p:nvSpPr>
        <p:spPr/>
        <p:txBody>
          <a:bodyPr/>
          <a:lstStyle/>
          <a:p>
            <a:fld id="{C4E08799-5971-469E-B6BD-5EA248E22CB0}" type="datetimeFigureOut">
              <a:rPr lang="en-IN" smtClean="0"/>
              <a:t>17/09/26</a:t>
            </a:fld>
            <a:endParaRPr lang="en-IN"/>
          </a:p>
        </p:txBody>
      </p:sp>
      <p:sp>
        <p:nvSpPr>
          <p:cNvPr id="1048612" name="Footer Placeholder 7"/>
          <p:cNvSpPr>
            <a:spLocks noGrp="1"/>
          </p:cNvSpPr>
          <p:nvPr>
            <p:ph type="ftr" sz="quarter" idx="11"/>
          </p:nvPr>
        </p:nvSpPr>
        <p:spPr/>
        <p:txBody>
          <a:bodyPr/>
          <a:lstStyle/>
          <a:p>
            <a:endParaRPr lang="en-IN"/>
          </a:p>
        </p:txBody>
      </p:sp>
      <p:sp>
        <p:nvSpPr>
          <p:cNvPr id="1048613" name="Slide Number Placeholder 8"/>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89" name="Title 1"/>
          <p:cNvSpPr>
            <a:spLocks noGrp="1"/>
          </p:cNvSpPr>
          <p:nvPr>
            <p:ph type="title"/>
          </p:nvPr>
        </p:nvSpPr>
        <p:spPr/>
        <p:txBody>
          <a:bodyPr/>
          <a:lstStyle/>
          <a:p>
            <a:r>
              <a:rPr lang="en-US"/>
              <a:t>Click to edit Master title style</a:t>
            </a:r>
            <a:endParaRPr lang="en-IN"/>
          </a:p>
        </p:txBody>
      </p:sp>
      <p:sp>
        <p:nvSpPr>
          <p:cNvPr id="1048690" name="Date Placeholder 2"/>
          <p:cNvSpPr>
            <a:spLocks noGrp="1"/>
          </p:cNvSpPr>
          <p:nvPr>
            <p:ph type="dt" sz="half" idx="10"/>
          </p:nvPr>
        </p:nvSpPr>
        <p:spPr/>
        <p:txBody>
          <a:bodyPr/>
          <a:lstStyle/>
          <a:p>
            <a:fld id="{C4E08799-5971-469E-B6BD-5EA248E22CB0}" type="datetimeFigureOut">
              <a:rPr lang="en-IN" smtClean="0"/>
              <a:t>17/09/26</a:t>
            </a:fld>
            <a:endParaRPr lang="en-IN"/>
          </a:p>
        </p:txBody>
      </p:sp>
      <p:sp>
        <p:nvSpPr>
          <p:cNvPr id="1048691" name="Footer Placeholder 3"/>
          <p:cNvSpPr>
            <a:spLocks noGrp="1"/>
          </p:cNvSpPr>
          <p:nvPr>
            <p:ph type="ftr" sz="quarter" idx="11"/>
          </p:nvPr>
        </p:nvSpPr>
        <p:spPr/>
        <p:txBody>
          <a:bodyPr/>
          <a:lstStyle/>
          <a:p>
            <a:endParaRPr lang="en-IN"/>
          </a:p>
        </p:txBody>
      </p:sp>
      <p:sp>
        <p:nvSpPr>
          <p:cNvPr id="1048692" name="Slide Number Placeholder 4"/>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20" name="Date Placeholder 1"/>
          <p:cNvSpPr>
            <a:spLocks noGrp="1"/>
          </p:cNvSpPr>
          <p:nvPr>
            <p:ph type="dt" sz="half" idx="10"/>
          </p:nvPr>
        </p:nvSpPr>
        <p:spPr/>
        <p:txBody>
          <a:bodyPr/>
          <a:lstStyle/>
          <a:p>
            <a:fld id="{C4E08799-5971-469E-B6BD-5EA248E22CB0}" type="datetimeFigureOut">
              <a:rPr lang="en-IN" smtClean="0"/>
              <a:t>17/09/26</a:t>
            </a:fld>
            <a:endParaRPr lang="en-IN"/>
          </a:p>
        </p:txBody>
      </p:sp>
      <p:sp>
        <p:nvSpPr>
          <p:cNvPr id="1048721" name="Footer Placeholder 2"/>
          <p:cNvSpPr>
            <a:spLocks noGrp="1"/>
          </p:cNvSpPr>
          <p:nvPr>
            <p:ph type="ftr" sz="quarter" idx="11"/>
          </p:nvPr>
        </p:nvSpPr>
        <p:spPr/>
        <p:txBody>
          <a:bodyPr/>
          <a:lstStyle/>
          <a:p>
            <a:endParaRPr lang="en-IN"/>
          </a:p>
        </p:txBody>
      </p:sp>
      <p:sp>
        <p:nvSpPr>
          <p:cNvPr id="1048722" name="Slide Number Placeholder 3"/>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24"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26" name="Date Placeholder 4"/>
          <p:cNvSpPr>
            <a:spLocks noGrp="1"/>
          </p:cNvSpPr>
          <p:nvPr>
            <p:ph type="dt" sz="half" idx="10"/>
          </p:nvPr>
        </p:nvSpPr>
        <p:spPr/>
        <p:txBody>
          <a:bodyPr/>
          <a:lstStyle/>
          <a:p>
            <a:fld id="{C4E08799-5971-469E-B6BD-5EA248E22CB0}" type="datetimeFigureOut">
              <a:rPr lang="en-IN" smtClean="0"/>
              <a:t>17/09/26</a:t>
            </a:fld>
            <a:endParaRPr lang="en-IN"/>
          </a:p>
        </p:txBody>
      </p:sp>
      <p:sp>
        <p:nvSpPr>
          <p:cNvPr id="1048727" name="Footer Placeholder 5"/>
          <p:cNvSpPr>
            <a:spLocks noGrp="1"/>
          </p:cNvSpPr>
          <p:nvPr>
            <p:ph type="ftr" sz="quarter" idx="11"/>
          </p:nvPr>
        </p:nvSpPr>
        <p:spPr/>
        <p:txBody>
          <a:bodyPr/>
          <a:lstStyle/>
          <a:p>
            <a:endParaRPr lang="en-IN"/>
          </a:p>
        </p:txBody>
      </p:sp>
      <p:sp>
        <p:nvSpPr>
          <p:cNvPr id="1048728" name="Slide Number Placeholder 6"/>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9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99"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700"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01" name="Date Placeholder 4"/>
          <p:cNvSpPr>
            <a:spLocks noGrp="1"/>
          </p:cNvSpPr>
          <p:nvPr>
            <p:ph type="dt" sz="half" idx="10"/>
          </p:nvPr>
        </p:nvSpPr>
        <p:spPr/>
        <p:txBody>
          <a:bodyPr/>
          <a:lstStyle/>
          <a:p>
            <a:fld id="{C4E08799-5971-469E-B6BD-5EA248E22CB0}" type="datetimeFigureOut">
              <a:rPr lang="en-IN" smtClean="0"/>
              <a:t>17/09/26</a:t>
            </a:fld>
            <a:endParaRPr lang="en-IN"/>
          </a:p>
        </p:txBody>
      </p:sp>
      <p:sp>
        <p:nvSpPr>
          <p:cNvPr id="1048702" name="Footer Placeholder 5"/>
          <p:cNvSpPr>
            <a:spLocks noGrp="1"/>
          </p:cNvSpPr>
          <p:nvPr>
            <p:ph type="ftr" sz="quarter" idx="11"/>
          </p:nvPr>
        </p:nvSpPr>
        <p:spPr/>
        <p:txBody>
          <a:bodyPr/>
          <a:lstStyle/>
          <a:p>
            <a:endParaRPr lang="en-IN"/>
          </a:p>
        </p:txBody>
      </p:sp>
      <p:sp>
        <p:nvSpPr>
          <p:cNvPr id="1048703" name="Slide Number Placeholder 6"/>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4" name="Title 1"/>
          <p:cNvSpPr>
            <a:spLocks noGrp="1"/>
          </p:cNvSpPr>
          <p:nvPr>
            <p:ph type="title"/>
          </p:nvPr>
        </p:nvSpPr>
        <p:spPr/>
        <p:txBody>
          <a:bodyPr/>
          <a:lstStyle/>
          <a:p>
            <a:r>
              <a:rPr lang="en-US"/>
              <a:t>Click to edit Master title style</a:t>
            </a:r>
            <a:endParaRPr lang="en-IN"/>
          </a:p>
        </p:txBody>
      </p:sp>
      <p:sp>
        <p:nvSpPr>
          <p:cNvPr id="1048705"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6" name="Date Placeholder 3"/>
          <p:cNvSpPr>
            <a:spLocks noGrp="1"/>
          </p:cNvSpPr>
          <p:nvPr>
            <p:ph type="dt" sz="half" idx="10"/>
          </p:nvPr>
        </p:nvSpPr>
        <p:spPr/>
        <p:txBody>
          <a:bodyPr/>
          <a:lstStyle/>
          <a:p>
            <a:fld id="{C4E08799-5971-469E-B6BD-5EA248E22CB0}" type="datetimeFigureOut">
              <a:rPr lang="en-IN" smtClean="0"/>
              <a:t>17/09/26</a:t>
            </a:fld>
            <a:endParaRPr lang="en-IN"/>
          </a:p>
        </p:txBody>
      </p:sp>
      <p:sp>
        <p:nvSpPr>
          <p:cNvPr id="1048707" name="Footer Placeholder 4"/>
          <p:cNvSpPr>
            <a:spLocks noGrp="1"/>
          </p:cNvSpPr>
          <p:nvPr>
            <p:ph type="ftr" sz="quarter" idx="11"/>
          </p:nvPr>
        </p:nvSpPr>
        <p:spPr/>
        <p:txBody>
          <a:bodyPr/>
          <a:lstStyle/>
          <a:p>
            <a:endParaRPr lang="en-IN"/>
          </a:p>
        </p:txBody>
      </p:sp>
      <p:sp>
        <p:nvSpPr>
          <p:cNvPr id="1048708" name="Slide Number Placeholder 5"/>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93"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94"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5" name="Date Placeholder 3"/>
          <p:cNvSpPr>
            <a:spLocks noGrp="1"/>
          </p:cNvSpPr>
          <p:nvPr>
            <p:ph type="dt" sz="half" idx="10"/>
          </p:nvPr>
        </p:nvSpPr>
        <p:spPr/>
        <p:txBody>
          <a:bodyPr/>
          <a:lstStyle/>
          <a:p>
            <a:fld id="{C4E08799-5971-469E-B6BD-5EA248E22CB0}" type="datetimeFigureOut">
              <a:rPr lang="en-IN" smtClean="0"/>
              <a:t>17/09/26</a:t>
            </a:fld>
            <a:endParaRPr lang="en-IN"/>
          </a:p>
        </p:txBody>
      </p:sp>
      <p:sp>
        <p:nvSpPr>
          <p:cNvPr id="1048696" name="Footer Placeholder 4"/>
          <p:cNvSpPr>
            <a:spLocks noGrp="1"/>
          </p:cNvSpPr>
          <p:nvPr>
            <p:ph type="ftr" sz="quarter" idx="11"/>
          </p:nvPr>
        </p:nvSpPr>
        <p:spPr/>
        <p:txBody>
          <a:bodyPr/>
          <a:lstStyle/>
          <a:p>
            <a:endParaRPr lang="en-IN"/>
          </a:p>
        </p:txBody>
      </p:sp>
      <p:sp>
        <p:nvSpPr>
          <p:cNvPr id="1048697" name="Slide Number Placeholder 5"/>
          <p:cNvSpPr>
            <a:spLocks noGrp="1"/>
          </p:cNvSpPr>
          <p:nvPr>
            <p:ph type="sldNum" sz="quarter" idx="12"/>
          </p:nvPr>
        </p:nvSpPr>
        <p:spPr/>
        <p:txBody>
          <a:bodyPr/>
          <a:lstStyle/>
          <a:p>
            <a:fld id="{F9A47B18-9C65-409B-8C66-C5F268E71C4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E08799-5971-469E-B6BD-5EA248E22CB0}" type="datetimeFigureOut">
              <a:rPr lang="en-IN" smtClean="0"/>
              <a:t>17/09/26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47B18-9C65-409B-8C66-C5F268E71C4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7/06/relationships/model3d" Target="../media/model3d1.glb"/><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p:cNvSpPr>
            <a:spLocks noGrp="1"/>
          </p:cNvSpPr>
          <p:nvPr>
            <p:ph type="ctrTitle"/>
          </p:nvPr>
        </p:nvSpPr>
        <p:spPr>
          <a:xfrm>
            <a:off x="545465" y="193040"/>
            <a:ext cx="11094085" cy="2011680"/>
          </a:xfrm>
        </p:spPr>
        <p:txBody>
          <a:bodyPr>
            <a:normAutofit/>
          </a:bodyPr>
          <a:lstStyle/>
          <a:p>
            <a:r>
              <a:rPr lang="en-US" sz="2800" b="1" dirty="0">
                <a:latin typeface="Times New Roman" panose="02020603050405020304" pitchFamily="18" charset="0"/>
                <a:cs typeface="Times New Roman" panose="02020603050405020304" pitchFamily="18" charset="0"/>
              </a:rPr>
              <a:t>Major Project Presentation On</a:t>
            </a:r>
            <a:br>
              <a:rPr lang="en-US" sz="3900" b="1" dirty="0">
                <a:solidFill>
                  <a:srgbClr val="FF0000"/>
                </a:solidFill>
                <a:latin typeface="Times New Roman" panose="02020603050405020304" pitchFamily="18" charset="0"/>
                <a:cs typeface="Times New Roman" panose="02020603050405020304" pitchFamily="18" charset="0"/>
              </a:rPr>
            </a:br>
            <a:r>
              <a:rPr lang="en-IN" sz="3100" b="1" dirty="0">
                <a:solidFill>
                  <a:srgbClr val="FF0000"/>
                </a:solidFill>
                <a:latin typeface="Times New Roman" panose="02020603050405020304" pitchFamily="18" charset="0"/>
                <a:cs typeface="Times New Roman" panose="02020603050405020304" pitchFamily="18" charset="0"/>
              </a:rPr>
              <a:t>TITLE</a:t>
            </a:r>
            <a:br>
              <a:rPr lang="en-US" sz="5300" dirty="0"/>
            </a:br>
            <a:r>
              <a:rPr lang="en-US" sz="2700" dirty="0"/>
              <a:t> </a:t>
            </a:r>
            <a:endParaRPr lang="en-US" dirty="0"/>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4540" r="29625"/>
          <a:stretch>
            <a:fillRect/>
          </a:stretch>
        </p:blipFill>
        <p:spPr>
          <a:xfrm>
            <a:off x="4987426" y="1859916"/>
            <a:ext cx="2209800" cy="1242059"/>
          </a:xfrm>
          <a:prstGeom prst="rect">
            <a:avLst/>
          </a:prstGeom>
        </p:spPr>
      </p:pic>
      <p:sp>
        <p:nvSpPr>
          <p:cNvPr id="8" name="TextBox 7"/>
          <p:cNvSpPr txBox="1"/>
          <p:nvPr/>
        </p:nvSpPr>
        <p:spPr>
          <a:xfrm>
            <a:off x="4445" y="3101885"/>
            <a:ext cx="12174855" cy="1883657"/>
          </a:xfrm>
          <a:prstGeom prst="rect">
            <a:avLst/>
          </a:prstGeom>
          <a:noFill/>
        </p:spPr>
        <p:txBody>
          <a:bodyPr wrap="square" rtlCol="0">
            <a:spAutoFit/>
          </a:bodyPr>
          <a:lstStyle/>
          <a:p>
            <a:pPr algn="ctr">
              <a:lnSpc>
                <a:spcPct val="150000"/>
              </a:lnSpc>
            </a:pPr>
            <a:r>
              <a:rPr lang="en-US" sz="2000" dirty="0">
                <a:latin typeface="Times New Roman" panose="02020603050405020304" pitchFamily="18" charset="0"/>
                <a:cs typeface="Times New Roman" panose="02020603050405020304" pitchFamily="18" charset="0"/>
              </a:rPr>
              <a:t>By</a:t>
            </a:r>
            <a:br>
              <a:rPr lang="en-US"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Team Member Name</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Roll No.</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ctr">
              <a:lnSpc>
                <a:spcPct val="150000"/>
              </a:lnSpc>
            </a:pPr>
            <a:r>
              <a:rPr lang="en-IN" sz="2000" dirty="0">
                <a:latin typeface="Times New Roman" panose="02020603050405020304" pitchFamily="18" charset="0"/>
                <a:cs typeface="Times New Roman" panose="02020603050405020304" pitchFamily="18" charset="0"/>
              </a:rPr>
              <a:t>Team Member Name (Roll No.)</a:t>
            </a:r>
          </a:p>
          <a:p>
            <a:pPr algn="ctr">
              <a:lnSpc>
                <a:spcPct val="150000"/>
              </a:lnSpc>
            </a:pPr>
            <a:r>
              <a:rPr lang="en-IN" sz="2000" dirty="0">
                <a:latin typeface="Times New Roman" panose="02020603050405020304" pitchFamily="18" charset="0"/>
                <a:cs typeface="Times New Roman" panose="02020603050405020304" pitchFamily="18" charset="0"/>
              </a:rPr>
              <a:t>Team Member Name</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Roll No.</a:t>
            </a:r>
            <a:r>
              <a:rPr lang="en-US" sz="2000" dirty="0">
                <a:latin typeface="Times New Roman" panose="02020603050405020304" pitchFamily="18" charset="0"/>
                <a:cs typeface="Times New Roman" panose="02020603050405020304" pitchFamily="18" charset="0"/>
              </a:rPr>
              <a:t>)</a:t>
            </a:r>
          </a:p>
        </p:txBody>
      </p:sp>
      <p:sp>
        <p:nvSpPr>
          <p:cNvPr id="9" name="TextBox 8"/>
          <p:cNvSpPr txBox="1"/>
          <p:nvPr/>
        </p:nvSpPr>
        <p:spPr>
          <a:xfrm>
            <a:off x="5080" y="5012690"/>
            <a:ext cx="12174855" cy="1503297"/>
          </a:xfrm>
          <a:prstGeom prst="rect">
            <a:avLst/>
          </a:prstGeom>
          <a:noFill/>
        </p:spPr>
        <p:txBody>
          <a:bodyPr wrap="square" rtlCol="0">
            <a:spAutoFit/>
          </a:bodyPr>
          <a:lstStyle/>
          <a:p>
            <a:pPr algn="ctr">
              <a:lnSpc>
                <a:spcPct val="150000"/>
              </a:lnSpc>
            </a:pPr>
            <a:r>
              <a:rPr lang="en-US" sz="2000" dirty="0">
                <a:latin typeface="Times New Roman" panose="02020603050405020304" pitchFamily="18" charset="0"/>
                <a:cs typeface="Times New Roman" panose="02020603050405020304" pitchFamily="18" charset="0"/>
              </a:rPr>
              <a:t>Under the Esteemed Guidance of</a:t>
            </a:r>
          </a:p>
          <a:p>
            <a:pPr algn="ctr">
              <a:lnSpc>
                <a:spcPct val="150000"/>
              </a:lnSpc>
            </a:pPr>
            <a:r>
              <a:rPr lang="en-IN" sz="2000" b="1" dirty="0">
                <a:latin typeface="Times New Roman" panose="02020603050405020304" pitchFamily="18" charset="0"/>
                <a:cs typeface="Times New Roman" panose="02020603050405020304" pitchFamily="18" charset="0"/>
              </a:rPr>
              <a:t>Faculty Guide Name(Designation)</a:t>
            </a:r>
            <a:endParaRPr lang="en-US" sz="2000" b="1" dirty="0">
              <a:latin typeface="Times New Roman" panose="02020603050405020304" pitchFamily="18" charset="0"/>
              <a:cs typeface="Times New Roman" panose="02020603050405020304" pitchFamily="18" charset="0"/>
            </a:endParaRPr>
          </a:p>
          <a:p>
            <a:pPr algn="ctr">
              <a:lnSpc>
                <a:spcPct val="150000"/>
              </a:lnSpc>
            </a:pPr>
            <a:r>
              <a:rPr lang="en-US" sz="2400" b="1" dirty="0">
                <a:latin typeface="Times New Roman" panose="02020603050405020304" pitchFamily="18" charset="0"/>
                <a:cs typeface="Times New Roman" panose="02020603050405020304" pitchFamily="18" charset="0"/>
              </a:rPr>
              <a:t>Guru Nanak Institutions Technical Campus (Autonomous)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Pentagon 3"/>
          <p:cNvSpPr/>
          <p:nvPr/>
        </p:nvSpPr>
        <p:spPr>
          <a:xfrm>
            <a:off x="14604" y="-5080"/>
            <a:ext cx="7925436" cy="1003935"/>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FF0000"/>
              </a:highlight>
            </a:endParaRPr>
          </a:p>
        </p:txBody>
      </p:sp>
      <p:sp>
        <p:nvSpPr>
          <p:cNvPr id="1048596" name="Title 1"/>
          <p:cNvSpPr>
            <a:spLocks noGrp="1"/>
          </p:cNvSpPr>
          <p:nvPr/>
        </p:nvSpPr>
        <p:spPr>
          <a:xfrm>
            <a:off x="14604" y="107950"/>
            <a:ext cx="7925436" cy="891540"/>
          </a:xfrm>
          <a:prstGeom prst="rect">
            <a:avLst/>
          </a:prstGeom>
        </p:spPr>
        <p:txBody>
          <a:bodyPr vert="horz" lIns="91440" tIns="45720" rIns="91440" bIns="45720" rtlCol="0" anchor="ctr">
            <a:normAutofit fontScale="8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300" b="1" dirty="0">
                <a:solidFill>
                  <a:schemeClr val="bg1"/>
                </a:solidFill>
                <a:latin typeface="Times New Roman" panose="02020603050405020304" pitchFamily="18" charset="0"/>
                <a:cs typeface="Times New Roman" panose="02020603050405020304" pitchFamily="18" charset="0"/>
              </a:rPr>
              <a:t>OVERVIEW OF THE PRESENTATION</a:t>
            </a:r>
            <a:r>
              <a:rPr lang="en-US" sz="3200" b="1" dirty="0">
                <a:solidFill>
                  <a:schemeClr val="bg1"/>
                </a:solidFill>
                <a:latin typeface="Times New Roman" panose="02020603050405020304" pitchFamily="18" charset="0"/>
                <a:cs typeface="Times New Roman" panose="02020603050405020304" pitchFamily="18" charset="0"/>
              </a:rPr>
              <a:t>:</a:t>
            </a:r>
          </a:p>
        </p:txBody>
      </p:sp>
      <p:sp>
        <p:nvSpPr>
          <p:cNvPr id="1048597" name="Rounded Rectangle 1048596"/>
          <p:cNvSpPr/>
          <p:nvPr/>
        </p:nvSpPr>
        <p:spPr>
          <a:xfrm>
            <a:off x="731520" y="1280160"/>
            <a:ext cx="5166360" cy="502920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ctr">
              <a:spcBef>
                <a:spcPts val="400"/>
              </a:spcBef>
              <a:spcAft>
                <a:spcPts val="200"/>
              </a:spcAft>
            </a:pPr>
            <a:r>
              <a:rPr sz="1700" b="1">
                <a:solidFill>
                  <a:srgbClr val="BE0F0F"/>
                </a:solidFill>
                <a:latin typeface="Times New Roman"/>
              </a:rPr>
              <a:t>01. ABSTRACT</a:t>
            </a:r>
          </a:p>
          <a:p>
            <a:pPr>
              <a:spcBef>
                <a:spcPts val="0"/>
              </a:spcBef>
              <a:spcAft>
                <a:spcPts val="600"/>
              </a:spcAft>
            </a:pPr>
            <a:r>
              <a:rPr sz="1300">
                <a:solidFill>
                  <a:srgbClr val="4B4B4B"/>
                </a:solidFill>
                <a:latin typeface="Times New Roman"/>
              </a:rPr>
              <a:t>Project background, core AI innovations, and research scope</a:t>
            </a:r>
          </a:p>
          <a:p>
            <a:pPr>
              <a:spcBef>
                <a:spcPts val="1000"/>
              </a:spcBef>
              <a:spcAft>
                <a:spcPts val="200"/>
              </a:spcAft>
            </a:pPr>
            <a:r>
              <a:rPr sz="1700" b="1">
                <a:solidFill>
                  <a:srgbClr val="BE0F0F"/>
                </a:solidFill>
                <a:latin typeface="Times New Roman"/>
              </a:rPr>
              <a:t>02. OBJECTIVE</a:t>
            </a:r>
          </a:p>
          <a:p>
            <a:pPr>
              <a:spcBef>
                <a:spcPts val="0"/>
              </a:spcBef>
              <a:spcAft>
                <a:spcPts val="600"/>
              </a:spcAft>
            </a:pPr>
            <a:r>
              <a:rPr sz="1300">
                <a:solidFill>
                  <a:srgbClr val="4B4B4B"/>
                </a:solidFill>
                <a:latin typeface="Times New Roman"/>
              </a:rPr>
              <a:t>Primary purpose, budget optimization goals, and milestones</a:t>
            </a:r>
          </a:p>
          <a:p>
            <a:pPr>
              <a:spcBef>
                <a:spcPts val="1000"/>
              </a:spcBef>
              <a:spcAft>
                <a:spcPts val="200"/>
              </a:spcAft>
            </a:pPr>
            <a:r>
              <a:rPr sz="1700" b="1">
                <a:solidFill>
                  <a:srgbClr val="BE0F0F"/>
                </a:solidFill>
                <a:latin typeface="Times New Roman"/>
              </a:rPr>
              <a:t>03. INTRODUCTION</a:t>
            </a:r>
          </a:p>
          <a:p>
            <a:pPr>
              <a:spcBef>
                <a:spcPts val="0"/>
              </a:spcBef>
              <a:spcAft>
                <a:spcPts val="600"/>
              </a:spcAft>
            </a:pPr>
            <a:r>
              <a:rPr sz="1300">
                <a:solidFill>
                  <a:srgbClr val="4B4B4B"/>
                </a:solidFill>
                <a:latin typeface="Times New Roman"/>
              </a:rPr>
              <a:t>Evolution of student tourism and travel planning bottlenecks</a:t>
            </a:r>
          </a:p>
          <a:p>
            <a:pPr>
              <a:spcBef>
                <a:spcPts val="1000"/>
              </a:spcBef>
              <a:spcAft>
                <a:spcPts val="200"/>
              </a:spcAft>
            </a:pPr>
            <a:r>
              <a:rPr sz="1700" b="1">
                <a:solidFill>
                  <a:srgbClr val="BE0F0F"/>
                </a:solidFill>
                <a:latin typeface="Times New Roman"/>
              </a:rPr>
              <a:t>04. LITERATURE SURVEY</a:t>
            </a:r>
          </a:p>
          <a:p>
            <a:pPr>
              <a:spcBef>
                <a:spcPts val="0"/>
              </a:spcBef>
              <a:spcAft>
                <a:spcPts val="600"/>
              </a:spcAft>
            </a:pPr>
            <a:r>
              <a:rPr sz="1300">
                <a:solidFill>
                  <a:srgbClr val="4B4B4B"/>
                </a:solidFill>
                <a:latin typeface="Times New Roman"/>
              </a:rPr>
              <a:t>Comparative analysis of commercial OTAs vs. academic routing models</a:t>
            </a:r>
          </a:p>
          <a:p>
            <a:pPr>
              <a:spcBef>
                <a:spcPts val="1000"/>
              </a:spcBef>
              <a:spcAft>
                <a:spcPts val="200"/>
              </a:spcAft>
            </a:pPr>
            <a:r>
              <a:rPr sz="1700" b="1">
                <a:solidFill>
                  <a:srgbClr val="BE0F0F"/>
                </a:solidFill>
                <a:latin typeface="Times New Roman"/>
              </a:rPr>
              <a:t>05. EXISTING SYSTEM</a:t>
            </a:r>
          </a:p>
          <a:p>
            <a:pPr>
              <a:spcBef>
                <a:spcPts val="0"/>
              </a:spcBef>
              <a:spcAft>
                <a:spcPts val="600"/>
              </a:spcAft>
            </a:pPr>
            <a:r>
              <a:rPr sz="1300">
                <a:solidFill>
                  <a:srgbClr val="4B4B4B"/>
                </a:solidFill>
                <a:latin typeface="Times New Roman"/>
              </a:rPr>
              <a:t>Manual spreadsheet compilation, fragmented OTAs, and rigid packages</a:t>
            </a:r>
          </a:p>
        </p:txBody>
      </p:sp>
      <p:sp>
        <p:nvSpPr>
          <p:cNvPr id="1048598" name="Rounded Rectangle 1048597"/>
          <p:cNvSpPr/>
          <p:nvPr/>
        </p:nvSpPr>
        <p:spPr>
          <a:xfrm>
            <a:off x="6263640" y="1280160"/>
            <a:ext cx="5166360" cy="502920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274320"/>
          <a:lstStyle/>
          <a:p>
            <a:pPr algn="ctr">
              <a:spcBef>
                <a:spcPts val="400"/>
              </a:spcBef>
              <a:spcAft>
                <a:spcPts val="200"/>
              </a:spcAft>
            </a:pPr>
            <a:r>
              <a:rPr sz="1700" b="1">
                <a:solidFill>
                  <a:srgbClr val="BE0F0F"/>
                </a:solidFill>
                <a:latin typeface="Times New Roman"/>
              </a:rPr>
              <a:t>06. DISADVANTAGES</a:t>
            </a:r>
          </a:p>
          <a:p>
            <a:pPr>
              <a:spcBef>
                <a:spcPts val="0"/>
              </a:spcBef>
              <a:spcAft>
                <a:spcPts val="600"/>
              </a:spcAft>
            </a:pPr>
            <a:r>
              <a:rPr sz="1300">
                <a:solidFill>
                  <a:srgbClr val="4B4B4B"/>
                </a:solidFill>
                <a:latin typeface="Times New Roman"/>
              </a:rPr>
              <a:t>Budget overshoots, cognitive fatigue, and missed student concessions</a:t>
            </a:r>
          </a:p>
          <a:p>
            <a:pPr>
              <a:spcBef>
                <a:spcPts val="1000"/>
              </a:spcBef>
              <a:spcAft>
                <a:spcPts val="200"/>
              </a:spcAft>
            </a:pPr>
            <a:r>
              <a:rPr sz="1700" b="1">
                <a:solidFill>
                  <a:srgbClr val="BE0F0F"/>
                </a:solidFill>
                <a:latin typeface="Times New Roman"/>
              </a:rPr>
              <a:t>07. PROPOSED SYSTEM</a:t>
            </a:r>
          </a:p>
          <a:p>
            <a:pPr>
              <a:spcBef>
                <a:spcPts val="0"/>
              </a:spcBef>
              <a:spcAft>
                <a:spcPts val="600"/>
              </a:spcAft>
            </a:pPr>
            <a:r>
              <a:rPr sz="1300">
                <a:solidFill>
                  <a:srgbClr val="4B4B4B"/>
                </a:solidFill>
                <a:latin typeface="Times New Roman"/>
              </a:rPr>
              <a:t>Deterministic budget heuristics, automated discounts, and contingency plans</a:t>
            </a:r>
          </a:p>
          <a:p>
            <a:pPr>
              <a:spcBef>
                <a:spcPts val="1000"/>
              </a:spcBef>
              <a:spcAft>
                <a:spcPts val="200"/>
              </a:spcAft>
            </a:pPr>
            <a:r>
              <a:rPr sz="1700" b="1">
                <a:solidFill>
                  <a:srgbClr val="BE0F0F"/>
                </a:solidFill>
                <a:latin typeface="Times New Roman"/>
              </a:rPr>
              <a:t>08. ADVANTAGES</a:t>
            </a:r>
          </a:p>
          <a:p>
            <a:pPr>
              <a:spcBef>
                <a:spcPts val="0"/>
              </a:spcBef>
              <a:spcAft>
                <a:spcPts val="600"/>
              </a:spcAft>
            </a:pPr>
            <a:r>
              <a:rPr sz="1300">
                <a:solidFill>
                  <a:srgbClr val="4B4B4B"/>
                </a:solidFill>
                <a:latin typeface="Times New Roman"/>
              </a:rPr>
              <a:t>Sub-2s synthesis, guaranteed 100% budget adherence, and up to 35% savings</a:t>
            </a:r>
          </a:p>
          <a:p>
            <a:pPr>
              <a:spcBef>
                <a:spcPts val="1000"/>
              </a:spcBef>
              <a:spcAft>
                <a:spcPts val="200"/>
              </a:spcAft>
            </a:pPr>
            <a:r>
              <a:rPr sz="1700" b="1">
                <a:solidFill>
                  <a:srgbClr val="BE0F0F"/>
                </a:solidFill>
                <a:latin typeface="Times New Roman"/>
              </a:rPr>
              <a:t>09. SYSTEM ARCHITECTURE</a:t>
            </a:r>
          </a:p>
          <a:p>
            <a:pPr>
              <a:spcBef>
                <a:spcPts val="0"/>
              </a:spcBef>
              <a:spcAft>
                <a:spcPts val="600"/>
              </a:spcAft>
            </a:pPr>
            <a:r>
              <a:rPr sz="1300">
                <a:solidFill>
                  <a:srgbClr val="4B4B4B"/>
                </a:solidFill>
                <a:latin typeface="Times New Roman"/>
              </a:rPr>
              <a:t>Decoupled 4-tier stack: React.js, Express.js API, and PostgreSQL JSONB</a:t>
            </a:r>
          </a:p>
          <a:p>
            <a:pPr>
              <a:spcBef>
                <a:spcPts val="1000"/>
              </a:spcBef>
              <a:spcAft>
                <a:spcPts val="200"/>
              </a:spcAft>
            </a:pPr>
            <a:r>
              <a:rPr sz="1700" b="1">
                <a:solidFill>
                  <a:srgbClr val="BE0F0F"/>
                </a:solidFill>
                <a:latin typeface="Times New Roman"/>
              </a:rPr>
              <a:t>10. CONCLUSION &amp; SCOPE</a:t>
            </a:r>
          </a:p>
          <a:p>
            <a:pPr>
              <a:spcBef>
                <a:spcPts val="0"/>
              </a:spcBef>
              <a:spcAft>
                <a:spcPts val="600"/>
              </a:spcAft>
            </a:pPr>
            <a:r>
              <a:rPr sz="1300">
                <a:solidFill>
                  <a:srgbClr val="4B4B4B"/>
                </a:solidFill>
                <a:latin typeface="Times New Roman"/>
              </a:rPr>
              <a:t>Summary of project outcomes, production scalability, and future roadmap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Pentagon 4"/>
          <p:cNvSpPr/>
          <p:nvPr/>
        </p:nvSpPr>
        <p:spPr>
          <a:xfrm>
            <a:off x="14605" y="-6350"/>
            <a:ext cx="3627120" cy="1069340"/>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98" name="Text Box 5"/>
          <p:cNvSpPr txBox="1"/>
          <p:nvPr/>
        </p:nvSpPr>
        <p:spPr>
          <a:xfrm>
            <a:off x="231775" y="172720"/>
            <a:ext cx="3210560" cy="706755"/>
          </a:xfrm>
          <a:prstGeom prst="rect">
            <a:avLst/>
          </a:prstGeom>
          <a:noFill/>
        </p:spPr>
        <p:txBody>
          <a:bodyPr wrap="square" rtlCol="0">
            <a:spAutoFit/>
          </a:bodyPr>
          <a:lstStyle/>
          <a:p>
            <a:r>
              <a:rPr lang="en-US" sz="4000" dirty="0">
                <a:solidFill>
                  <a:schemeClr val="bg1"/>
                </a:solidFill>
                <a:latin typeface="Times New Roman" panose="02020603050405020304" pitchFamily="18" charset="0"/>
                <a:cs typeface="Times New Roman" panose="02020603050405020304" pitchFamily="18" charset="0"/>
              </a:rPr>
              <a:t>ABSTRACT:</a:t>
            </a:r>
          </a:p>
        </p:txBody>
      </p:sp>
      <p:sp>
        <p:nvSpPr>
          <p:cNvPr id="1048599" name="Rounded Rectangle 1048598"/>
          <p:cNvSpPr/>
          <p:nvPr/>
        </p:nvSpPr>
        <p:spPr>
          <a:xfrm>
            <a:off x="731520" y="1280160"/>
            <a:ext cx="10698480" cy="5120640"/>
          </a:xfrm>
          <a:prstGeom prst="roundRect">
            <a:avLst/>
          </a:prstGeom>
          <a:solidFill>
            <a:srgbClr val="FAFAFC"/>
          </a:solidFill>
          <a:ln w="15240">
            <a:solidFill>
              <a:srgbClr val="D7DAE0"/>
            </a:solidFill>
          </a:ln>
        </p:spPr>
        <p:style>
          <a:lnRef idx="1">
            <a:schemeClr val="accent1"/>
          </a:lnRef>
          <a:fillRef idx="3">
            <a:schemeClr val="accent1"/>
          </a:fillRef>
          <a:effectRef idx="2">
            <a:schemeClr val="accent1"/>
          </a:effectRef>
          <a:fontRef idx="minor">
            <a:schemeClr val="lt1"/>
          </a:fontRef>
        </p:style>
        <p:txBody>
          <a:bodyPr rtlCol="0" anchor="t" wrap="square" lIns="365760" rIns="365760" tIns="320040"/>
          <a:lstStyle/>
          <a:p>
            <a:pPr algn="ctr">
              <a:spcBef>
                <a:spcPts val="400"/>
              </a:spcBef>
              <a:spcAft>
                <a:spcPts val="400"/>
              </a:spcAft>
            </a:pPr>
            <a:r>
              <a:rPr sz="1650" b="1">
                <a:solidFill>
                  <a:srgbClr val="BE0F0F"/>
                </a:solidFill>
                <a:latin typeface="Times New Roman"/>
              </a:rPr>
              <a:t>• </a:t>
            </a:r>
            <a:r>
              <a:rPr sz="1650" b="1">
                <a:solidFill>
                  <a:srgbClr val="1E1E1E"/>
                </a:solidFill>
                <a:latin typeface="Times New Roman"/>
              </a:rPr>
              <a:t>Context &amp; Motivation: </a:t>
            </a:r>
            <a:r>
              <a:rPr sz="1600">
                <a:solidFill>
                  <a:srgbClr val="4B4B4B"/>
                </a:solidFill>
                <a:latin typeface="Times New Roman"/>
              </a:rPr>
              <a:t>University students and budget-conscious youth face severe financial constraints and information fragmentation when attempting to plan vacations across disparate booking channels.</a:t>
            </a:r>
          </a:p>
          <a:p>
            <a:pPr>
              <a:spcBef>
                <a:spcPts val="800"/>
              </a:spcBef>
              <a:spcAft>
                <a:spcPts val="400"/>
              </a:spcAft>
            </a:pPr>
            <a:r>
              <a:rPr sz="1650" b="1">
                <a:solidFill>
                  <a:srgbClr val="BE0F0F"/>
                </a:solidFill>
                <a:latin typeface="Times New Roman"/>
              </a:rPr>
              <a:t>• </a:t>
            </a:r>
            <a:r>
              <a:rPr sz="1650" b="1">
                <a:solidFill>
                  <a:srgbClr val="1E1E1E"/>
                </a:solidFill>
                <a:latin typeface="Times New Roman"/>
              </a:rPr>
              <a:t>Core System Innovation: </a:t>
            </a:r>
            <a:r>
              <a:rPr sz="1600">
                <a:solidFill>
                  <a:srgbClr val="4B4B4B"/>
                </a:solidFill>
                <a:latin typeface="Times New Roman"/>
              </a:rPr>
              <a:t>AI Travel Planner is an intelligent, full-stack automated itinerary generation platform that synthesizes destination parameters, companion profiles, and financial limits into executable daily plans in under 2 seconds.</a:t>
            </a:r>
          </a:p>
          <a:p>
            <a:pPr>
              <a:spcBef>
                <a:spcPts val="800"/>
              </a:spcBef>
              <a:spcAft>
                <a:spcPts val="400"/>
              </a:spcAft>
            </a:pPr>
            <a:r>
              <a:rPr sz="1650" b="1">
                <a:solidFill>
                  <a:srgbClr val="BE0F0F"/>
                </a:solidFill>
                <a:latin typeface="Times New Roman"/>
              </a:rPr>
              <a:t>• </a:t>
            </a:r>
            <a:r>
              <a:rPr sz="1650" b="1">
                <a:solidFill>
                  <a:srgbClr val="1E1E1E"/>
                </a:solidFill>
                <a:latin typeface="Times New Roman"/>
              </a:rPr>
              <a:t>Deterministic Budget Allocation: </a:t>
            </a:r>
            <a:r>
              <a:rPr sz="1600">
                <a:solidFill>
                  <a:srgbClr val="4B4B4B"/>
                </a:solidFill>
                <a:latin typeface="Times New Roman"/>
              </a:rPr>
              <a:t>Implements a proprietary budget partitioning algorithm that deterministically divides funds across Transport (25%), Accommodation (35%), Dining (25%), Activities (10%), and an Emergency Buffer (5%) to prevent financial depletion.</a:t>
            </a:r>
          </a:p>
          <a:p>
            <a:pPr>
              <a:spcBef>
                <a:spcPts val="800"/>
              </a:spcBef>
              <a:spcAft>
                <a:spcPts val="400"/>
              </a:spcAft>
            </a:pPr>
            <a:r>
              <a:rPr sz="1650" b="1">
                <a:solidFill>
                  <a:srgbClr val="BE0F0F"/>
                </a:solidFill>
                <a:latin typeface="Times New Roman"/>
              </a:rPr>
              <a:t>• </a:t>
            </a:r>
            <a:r>
              <a:rPr sz="1650" b="1">
                <a:solidFill>
                  <a:srgbClr val="1E1E1E"/>
                </a:solidFill>
                <a:latin typeface="Times New Roman"/>
              </a:rPr>
              <a:t>Automated Student Concessions: </a:t>
            </a:r>
            <a:r>
              <a:rPr sz="1600">
                <a:solidFill>
                  <a:srgbClr val="4B4B4B"/>
                </a:solidFill>
                <a:latin typeface="Times New Roman"/>
              </a:rPr>
              <a:t>Features an integrated discount rule engine that automatically applies 15%–25% savings on student transit passes and cultural heritage site entry fees, maximizing student purchasing power.</a:t>
            </a:r>
          </a:p>
          <a:p>
            <a:pPr>
              <a:spcBef>
                <a:spcPts val="800"/>
              </a:spcBef>
              <a:spcAft>
                <a:spcPts val="400"/>
              </a:spcAft>
            </a:pPr>
            <a:r>
              <a:rPr sz="1650" b="1">
                <a:solidFill>
                  <a:srgbClr val="BE0F0F"/>
                </a:solidFill>
                <a:latin typeface="Times New Roman"/>
              </a:rPr>
              <a:t>• </a:t>
            </a:r>
            <a:r>
              <a:rPr sz="1650" b="1">
                <a:solidFill>
                  <a:srgbClr val="1E1E1E"/>
                </a:solidFill>
                <a:latin typeface="Times New Roman"/>
              </a:rPr>
              <a:t>Dynamic Overrun Contingency Engine: </a:t>
            </a:r>
            <a:r>
              <a:rPr sz="1600">
                <a:solidFill>
                  <a:srgbClr val="4B4B4B"/>
                </a:solidFill>
                <a:latin typeface="Times New Roman"/>
              </a:rPr>
              <a:t>Proactively detects potential budget breaches and automatically synthesizes actionable alternatives—such as trip duration trimming, free landmark substitutions, and nearby lower-cost destinations.</a:t>
            </a:r>
          </a:p>
          <a:p>
            <a:pPr>
              <a:spcBef>
                <a:spcPts val="800"/>
              </a:spcBef>
              <a:spcAft>
                <a:spcPts val="400"/>
              </a:spcAft>
            </a:pPr>
            <a:r>
              <a:rPr sz="1650" b="1">
                <a:solidFill>
                  <a:srgbClr val="BE0F0F"/>
                </a:solidFill>
                <a:latin typeface="Times New Roman"/>
              </a:rPr>
              <a:t>• </a:t>
            </a:r>
            <a:r>
              <a:rPr sz="1650" b="1">
                <a:solidFill>
                  <a:srgbClr val="1E1E1E"/>
                </a:solidFill>
                <a:latin typeface="Times New Roman"/>
              </a:rPr>
              <a:t>Enterprise Decoupled Stack: </a:t>
            </a:r>
            <a:r>
              <a:rPr sz="1600">
                <a:solidFill>
                  <a:srgbClr val="4B4B4B"/>
                </a:solidFill>
                <a:latin typeface="Times New Roman"/>
              </a:rPr>
              <a:t>Constructed on a modern decoupled architecture featuring a responsive React.js SPA, Node.js/Express.js RESTful API services, and a PostgreSQL relational database utilizing JSONB for flexible itinerary persistence.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Pentagon 4"/>
          <p:cNvSpPr/>
          <p:nvPr/>
        </p:nvSpPr>
        <p:spPr>
          <a:xfrm>
            <a:off x="14605" y="-6350"/>
            <a:ext cx="3627120" cy="1069340"/>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atin typeface="Times New Roman" panose="02020603050405020304" pitchFamily="18" charset="0"/>
                <a:cs typeface="Times New Roman" panose="02020603050405020304" pitchFamily="18" charset="0"/>
              </a:rPr>
              <a:t>OBJECTIVE:</a:t>
            </a:r>
          </a:p>
        </p:txBody>
      </p:sp>
      <p:sp>
        <p:nvSpPr>
          <p:cNvPr id="1048601" name="Rounded Rectangle 1048600"/>
          <p:cNvSpPr/>
          <p:nvPr/>
        </p:nvSpPr>
        <p:spPr>
          <a:xfrm>
            <a:off x="731520" y="1234440"/>
            <a:ext cx="10698480" cy="1234440"/>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spcAft>
                <a:spcPts val="200"/>
              </a:spcAft>
            </a:pPr>
            <a:r>
              <a:rPr sz="1700" b="1">
                <a:solidFill>
                  <a:srgbClr val="BE0F0F"/>
                </a:solidFill>
                <a:latin typeface="Times New Roman"/>
              </a:rPr>
              <a:t>🎯 PRIMARY OBJECTIVE</a:t>
            </a:r>
          </a:p>
          <a:p>
            <a:r>
              <a:rPr sz="1550">
                <a:solidFill>
                  <a:srgbClr val="1E1E1E"/>
                </a:solidFill>
                <a:latin typeface="Times New Roman"/>
              </a:rPr>
              <a:t>To architect, develop, and deploy an automated, AI-driven travel planning web platform tailored specifically for budget-constrained students—synthesizing user financial limits, dates, companion types, and interests into optimized, cost-guaranteed itineraries.</a:t>
            </a:r>
          </a:p>
        </p:txBody>
      </p:sp>
      <p:sp>
        <p:nvSpPr>
          <p:cNvPr id="1048602" name="Rounded Rectangle 1048601"/>
          <p:cNvSpPr/>
          <p:nvPr/>
        </p:nvSpPr>
        <p:spPr>
          <a:xfrm>
            <a:off x="731520" y="2606040"/>
            <a:ext cx="10698480" cy="3840480"/>
          </a:xfrm>
          <a:prstGeom prst="roundRect">
            <a:avLst/>
          </a:prstGeom>
          <a:solidFill>
            <a:srgbClr val="FAFAFC"/>
          </a:solidFill>
          <a:ln w="15240">
            <a:solidFill>
              <a:srgbClr val="D7DAE0"/>
            </a:solidFill>
          </a:ln>
        </p:spPr>
        <p:style>
          <a:lnRef idx="1">
            <a:schemeClr val="accent1"/>
          </a:lnRef>
          <a:fillRef idx="3">
            <a:schemeClr val="accent1"/>
          </a:fillRef>
          <a:effectRef idx="2">
            <a:schemeClr val="accent1"/>
          </a:effectRef>
          <a:fontRef idx="minor">
            <a:schemeClr val="lt1"/>
          </a:fontRef>
        </p:style>
        <p:txBody>
          <a:bodyPr rtlCol="0" anchor="t" wrap="square" lIns="320040" rIns="320040" tIns="228600"/>
          <a:lstStyle/>
          <a:p>
            <a:pPr algn="ctr">
              <a:spcAft>
                <a:spcPts val="400"/>
              </a:spcAft>
            </a:pPr>
            <a:r>
              <a:rPr sz="1650" b="1">
                <a:solidFill>
                  <a:srgbClr val="1E1E1E"/>
                </a:solidFill>
                <a:latin typeface="Times New Roman"/>
              </a:rPr>
              <a:t>SPECIFIC TECHNICAL OBJECTIVES:</a:t>
            </a:r>
          </a:p>
          <a:p>
            <a:pPr>
              <a:spcBef>
                <a:spcPts val="300"/>
              </a:spcBef>
              <a:spcAft>
                <a:spcPts val="300"/>
              </a:spcAft>
            </a:pPr>
            <a:r>
              <a:rPr sz="1550" b="1">
                <a:solidFill>
                  <a:srgbClr val="BE0F0F"/>
                </a:solidFill>
                <a:latin typeface="Times New Roman"/>
              </a:rPr>
              <a:t>1. </a:t>
            </a:r>
            <a:r>
              <a:rPr sz="1550" b="1">
                <a:solidFill>
                  <a:srgbClr val="1E1E1E"/>
                </a:solidFill>
                <a:latin typeface="Times New Roman"/>
              </a:rPr>
              <a:t>Smart Categorical Budget Optimization: </a:t>
            </a:r>
            <a:r>
              <a:rPr sz="1500">
                <a:solidFill>
                  <a:srgbClr val="4B4B4B"/>
                </a:solidFill>
                <a:latin typeface="Times New Roman"/>
              </a:rPr>
              <a:t>Enforce mathematical budget allocation across transport, accommodation, meals, activities, and emergency buffer with real-time overrun tracking.</a:t>
            </a:r>
          </a:p>
          <a:p>
            <a:pPr>
              <a:spcBef>
                <a:spcPts val="300"/>
              </a:spcBef>
              <a:spcAft>
                <a:spcPts val="300"/>
              </a:spcAft>
            </a:pPr>
            <a:r>
              <a:rPr sz="1550" b="1">
                <a:solidFill>
                  <a:srgbClr val="BE0F0F"/>
                </a:solidFill>
                <a:latin typeface="Times New Roman"/>
              </a:rPr>
              <a:t>2. </a:t>
            </a:r>
            <a:r>
              <a:rPr sz="1550" b="1">
                <a:solidFill>
                  <a:srgbClr val="1E1E1E"/>
                </a:solidFill>
                <a:latin typeface="Times New Roman"/>
              </a:rPr>
              <a:t>Dynamic Student Concession Engine: </a:t>
            </a:r>
            <a:r>
              <a:rPr sz="1500">
                <a:solidFill>
                  <a:srgbClr val="4B4B4B"/>
                </a:solidFill>
                <a:latin typeface="Times New Roman"/>
              </a:rPr>
              <a:t>Integrate discount algorithms applying 15%–25% savings on transport fares and student-eligible cultural venues.</a:t>
            </a:r>
          </a:p>
          <a:p>
            <a:pPr>
              <a:spcBef>
                <a:spcPts val="300"/>
              </a:spcBef>
              <a:spcAft>
                <a:spcPts val="300"/>
              </a:spcAft>
            </a:pPr>
            <a:r>
              <a:rPr sz="1550" b="1">
                <a:solidFill>
                  <a:srgbClr val="BE0F0F"/>
                </a:solidFill>
                <a:latin typeface="Times New Roman"/>
              </a:rPr>
              <a:t>3. </a:t>
            </a:r>
            <a:r>
              <a:rPr sz="1550" b="1">
                <a:solidFill>
                  <a:srgbClr val="1E1E1E"/>
                </a:solidFill>
                <a:latin typeface="Times New Roman"/>
              </a:rPr>
              <a:t>Multi-Category Daily Scheduling: </a:t>
            </a:r>
            <a:r>
              <a:rPr sz="1500">
                <a:solidFill>
                  <a:srgbClr val="4B4B4B"/>
                </a:solidFill>
                <a:latin typeface="Times New Roman"/>
              </a:rPr>
              <a:t>Sequence activities across Adventure, Culture, Gastronomy, and Nature using round-robin distribution to prevent itinerary fatigue.</a:t>
            </a:r>
          </a:p>
          <a:p>
            <a:pPr>
              <a:spcBef>
                <a:spcPts val="300"/>
              </a:spcBef>
              <a:spcAft>
                <a:spcPts val="300"/>
              </a:spcAft>
            </a:pPr>
            <a:r>
              <a:rPr sz="1550" b="1">
                <a:solidFill>
                  <a:srgbClr val="BE0F0F"/>
                </a:solidFill>
                <a:latin typeface="Times New Roman"/>
              </a:rPr>
              <a:t>4. </a:t>
            </a:r>
            <a:r>
              <a:rPr sz="1550" b="1">
                <a:solidFill>
                  <a:srgbClr val="1E1E1E"/>
                </a:solidFill>
                <a:latin typeface="Times New Roman"/>
              </a:rPr>
              <a:t>Context-Aware Companion Personalization: </a:t>
            </a:r>
            <a:r>
              <a:rPr sz="1500">
                <a:solidFill>
                  <a:srgbClr val="4B4B4B"/>
                </a:solidFill>
                <a:latin typeface="Times New Roman"/>
              </a:rPr>
              <a:t>Dynamically adapt itineraries and activity pacing according to group dynamics (Solo, Friends, Family, Couple).</a:t>
            </a:r>
          </a:p>
          <a:p>
            <a:pPr>
              <a:spcBef>
                <a:spcPts val="300"/>
              </a:spcBef>
              <a:spcAft>
                <a:spcPts val="300"/>
              </a:spcAft>
            </a:pPr>
            <a:r>
              <a:rPr sz="1550" b="1">
                <a:solidFill>
                  <a:srgbClr val="BE0F0F"/>
                </a:solidFill>
                <a:latin typeface="Times New Roman"/>
              </a:rPr>
              <a:t>5. </a:t>
            </a:r>
            <a:r>
              <a:rPr sz="1550" b="1">
                <a:solidFill>
                  <a:srgbClr val="1E1E1E"/>
                </a:solidFill>
                <a:latin typeface="Times New Roman"/>
              </a:rPr>
              <a:t>Automated Contingency Alternatives: </a:t>
            </a:r>
            <a:r>
              <a:rPr sz="1500">
                <a:solidFill>
                  <a:srgbClr val="4B4B4B"/>
                </a:solidFill>
                <a:latin typeface="Times New Roman"/>
              </a:rPr>
              <a:t>Formulate real-time recommendation heuristics that generate viable lower-cost fallback plans when destination costs exceed available funds.</a:t>
            </a:r>
          </a:p>
          <a:p>
            <a:pPr>
              <a:spcBef>
                <a:spcPts val="300"/>
              </a:spcBef>
              <a:spcAft>
                <a:spcPts val="300"/>
              </a:spcAft>
            </a:pPr>
            <a:r>
              <a:rPr sz="1550" b="1">
                <a:solidFill>
                  <a:srgbClr val="BE0F0F"/>
                </a:solidFill>
                <a:latin typeface="Times New Roman"/>
              </a:rPr>
              <a:t>6. </a:t>
            </a:r>
            <a:r>
              <a:rPr sz="1550" b="1">
                <a:solidFill>
                  <a:srgbClr val="1E1E1E"/>
                </a:solidFill>
                <a:latin typeface="Times New Roman"/>
              </a:rPr>
              <a:t>High-Performance Full-Stack Platform: </a:t>
            </a:r>
            <a:r>
              <a:rPr sz="1500">
                <a:solidFill>
                  <a:srgbClr val="4B4B4B"/>
                </a:solidFill>
                <a:latin typeface="Times New Roman"/>
              </a:rPr>
              <a:t>Deliver a secure, scalable architecture utilizing React.js, Node.js/Express.js, JWT authentication, and PostgreSQL persistence.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Pentagon 5"/>
          <p:cNvSpPr/>
          <p:nvPr/>
        </p:nvSpPr>
        <p:spPr>
          <a:xfrm>
            <a:off x="14605" y="-6350"/>
            <a:ext cx="4774565" cy="864870"/>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a:latin typeface="Times New Roman" panose="02020603050405020304" pitchFamily="18" charset="0"/>
                <a:cs typeface="Times New Roman" panose="02020603050405020304" pitchFamily="18" charset="0"/>
              </a:rPr>
              <a:t>INTRODUCTION:</a:t>
            </a:r>
          </a:p>
        </p:txBody>
      </p:sp>
      <p:sp>
        <p:nvSpPr>
          <p:cNvPr id="1048603" name="Rounded Rectangle 1048602"/>
          <p:cNvSpPr/>
          <p:nvPr/>
        </p:nvSpPr>
        <p:spPr>
          <a:xfrm>
            <a:off x="731520" y="1280160"/>
            <a:ext cx="5212080" cy="242316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182880"/>
          <a:lstStyle/>
          <a:p>
            <a:pPr algn="ctr">
              <a:spcAft>
                <a:spcPts val="500"/>
              </a:spcAft>
            </a:pPr>
            <a:r>
              <a:rPr sz="1700" b="1">
                <a:solidFill>
                  <a:srgbClr val="BE0F0F"/>
                </a:solidFill>
                <a:latin typeface="Times New Roman"/>
              </a:rPr>
              <a:t>1. Rise of Student Tourism</a:t>
            </a:r>
          </a:p>
          <a:p>
            <a:pPr>
              <a:spcBef>
                <a:spcPts val="200"/>
              </a:spcBef>
              <a:spcAft>
                <a:spcPts val="200"/>
              </a:spcAft>
            </a:pPr>
            <a:r>
              <a:rPr sz="1450">
                <a:solidFill>
                  <a:srgbClr val="4B4B4B"/>
                </a:solidFill>
                <a:latin typeface="Times New Roman"/>
              </a:rPr>
              <a:t>• Travel has emerged as a cornerstone of experiential university education, peer collaboration, and personal growth.</a:t>
            </a:r>
          </a:p>
          <a:p>
            <a:pPr>
              <a:spcBef>
                <a:spcPts val="200"/>
              </a:spcBef>
              <a:spcAft>
                <a:spcPts val="200"/>
              </a:spcAft>
            </a:pPr>
            <a:r>
              <a:rPr sz="1450">
                <a:solidFill>
                  <a:srgbClr val="4B4B4B"/>
                </a:solidFill>
                <a:latin typeface="Times New Roman"/>
              </a:rPr>
              <a:t>• Student travelers represent a rapidly growing demographic eager to explore domestic and global destinations despite modest disposable income.</a:t>
            </a:r>
          </a:p>
        </p:txBody>
      </p:sp>
      <p:sp>
        <p:nvSpPr>
          <p:cNvPr id="1048604" name="Rounded Rectangle 1048603"/>
          <p:cNvSpPr/>
          <p:nvPr/>
        </p:nvSpPr>
        <p:spPr>
          <a:xfrm>
            <a:off x="6217920" y="1280160"/>
            <a:ext cx="5212080" cy="242316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182880"/>
          <a:lstStyle/>
          <a:p>
            <a:pPr algn="ctr">
              <a:spcAft>
                <a:spcPts val="500"/>
              </a:spcAft>
            </a:pPr>
            <a:r>
              <a:rPr sz="1700" b="1">
                <a:solidFill>
                  <a:srgbClr val="BE0F0F"/>
                </a:solidFill>
                <a:latin typeface="Times New Roman"/>
              </a:rPr>
              <a:t>2. Fragmented Planning Landscape</a:t>
            </a:r>
          </a:p>
          <a:p>
            <a:pPr>
              <a:spcBef>
                <a:spcPts val="200"/>
              </a:spcBef>
              <a:spcAft>
                <a:spcPts val="200"/>
              </a:spcAft>
            </a:pPr>
            <a:r>
              <a:rPr sz="1450">
                <a:solidFill>
                  <a:srgbClr val="4B4B4B"/>
                </a:solidFill>
                <a:latin typeface="Times New Roman"/>
              </a:rPr>
              <a:t>• Organizing a trip currently forces students to consult 8–12 disjoint platforms (flight engines, hotel apps, blogs, review sites, transit maps).</a:t>
            </a:r>
          </a:p>
          <a:p>
            <a:pPr>
              <a:spcBef>
                <a:spcPts val="200"/>
              </a:spcBef>
              <a:spcAft>
                <a:spcPts val="200"/>
              </a:spcAft>
            </a:pPr>
            <a:r>
              <a:rPr sz="1450">
                <a:solidFill>
                  <a:srgbClr val="4B4B4B"/>
                </a:solidFill>
                <a:latin typeface="Times New Roman"/>
              </a:rPr>
              <a:t>• Travelers spend an exhausting 15 to 25 hours manually compiling rates, transit timetables, and distances on spreadsheets.</a:t>
            </a:r>
          </a:p>
        </p:txBody>
      </p:sp>
      <p:sp>
        <p:nvSpPr>
          <p:cNvPr id="1048605" name="Rounded Rectangle 1048604"/>
          <p:cNvSpPr/>
          <p:nvPr/>
        </p:nvSpPr>
        <p:spPr>
          <a:xfrm>
            <a:off x="731520" y="3840480"/>
            <a:ext cx="5212080" cy="242316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182880"/>
          <a:lstStyle/>
          <a:p>
            <a:pPr algn="ctr">
              <a:spcAft>
                <a:spcPts val="500"/>
              </a:spcAft>
            </a:pPr>
            <a:r>
              <a:rPr sz="1700" b="1">
                <a:solidFill>
                  <a:srgbClr val="BE0F0F"/>
                </a:solidFill>
                <a:latin typeface="Times New Roman"/>
              </a:rPr>
              <a:t>3. Commercial Tourism Flaws</a:t>
            </a:r>
          </a:p>
          <a:p>
            <a:pPr>
              <a:spcBef>
                <a:spcPts val="200"/>
              </a:spcBef>
              <a:spcAft>
                <a:spcPts val="200"/>
              </a:spcAft>
            </a:pPr>
            <a:r>
              <a:rPr sz="1450">
                <a:solidFill>
                  <a:srgbClr val="4B4B4B"/>
                </a:solidFill>
                <a:latin typeface="Times New Roman"/>
              </a:rPr>
              <a:t>• Mainstream travel platforms and OTAs prioritize corporate and luxury travelers to maximize high-margin affiliate commissions.</a:t>
            </a:r>
          </a:p>
          <a:p>
            <a:pPr>
              <a:spcBef>
                <a:spcPts val="200"/>
              </a:spcBef>
              <a:spcAft>
                <a:spcPts val="200"/>
              </a:spcAft>
            </a:pPr>
            <a:r>
              <a:rPr sz="1450">
                <a:solidFill>
                  <a:srgbClr val="4B4B4B"/>
                </a:solidFill>
                <a:latin typeface="Times New Roman"/>
              </a:rPr>
              <a:t>• Inflexible 'cookie-cutter' tour packages systematically omit student concessions, youth hostels, and authentic budget street-food trails.</a:t>
            </a:r>
          </a:p>
        </p:txBody>
      </p:sp>
      <p:sp>
        <p:nvSpPr>
          <p:cNvPr id="1048606" name="Rounded Rectangle 1048605"/>
          <p:cNvSpPr/>
          <p:nvPr/>
        </p:nvSpPr>
        <p:spPr>
          <a:xfrm>
            <a:off x="6217920" y="3840480"/>
            <a:ext cx="5212080" cy="242316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t" wrap="square" lIns="274320" rIns="274320" tIns="182880"/>
          <a:lstStyle/>
          <a:p>
            <a:pPr algn="ctr">
              <a:spcAft>
                <a:spcPts val="500"/>
              </a:spcAft>
            </a:pPr>
            <a:r>
              <a:rPr sz="1700" b="1">
                <a:solidFill>
                  <a:srgbClr val="BE0F0F"/>
                </a:solidFill>
                <a:latin typeface="Times New Roman"/>
              </a:rPr>
              <a:t>4. The AI Travel Planner Paradigm</a:t>
            </a:r>
          </a:p>
          <a:p>
            <a:pPr>
              <a:spcBef>
                <a:spcPts val="200"/>
              </a:spcBef>
              <a:spcAft>
                <a:spcPts val="200"/>
              </a:spcAft>
            </a:pPr>
            <a:r>
              <a:rPr sz="1450">
                <a:solidFill>
                  <a:srgbClr val="4B4B4B"/>
                </a:solidFill>
                <a:latin typeface="Times New Roman"/>
              </a:rPr>
              <a:t>• Introduces an intelligent, centralized web application that translates raw travel parameters into complete day-wise plans in seconds.</a:t>
            </a:r>
          </a:p>
          <a:p>
            <a:pPr>
              <a:spcBef>
                <a:spcPts val="200"/>
              </a:spcBef>
              <a:spcAft>
                <a:spcPts val="200"/>
              </a:spcAft>
            </a:pPr>
            <a:r>
              <a:rPr sz="1450">
                <a:solidFill>
                  <a:srgbClr val="4B4B4B"/>
                </a:solidFill>
                <a:latin typeface="Times New Roman"/>
              </a:rPr>
              <a:t>• Combines algorithmic budget guarantees, verified student concessions, and personalized activities into a unified, seamless platform.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Pentagon 5"/>
          <p:cNvSpPr/>
          <p:nvPr/>
        </p:nvSpPr>
        <p:spPr>
          <a:xfrm>
            <a:off x="0" y="0"/>
            <a:ext cx="6448425" cy="874643"/>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4000" dirty="0">
                <a:latin typeface="Times New Roman" panose="02020603050405020304" pitchFamily="18" charset="0"/>
                <a:cs typeface="Times New Roman" panose="02020603050405020304" pitchFamily="18" charset="0"/>
                <a:sym typeface="+mn-ea"/>
              </a:rPr>
              <a:t>LITERATURE SURVEY</a:t>
            </a:r>
            <a:r>
              <a:rPr lang="en-US" sz="4000" dirty="0">
                <a:latin typeface="Times New Roman" panose="02020603050405020304" pitchFamily="18" charset="0"/>
                <a:cs typeface="Times New Roman" panose="02020603050405020304" pitchFamily="18" charset="0"/>
              </a:rPr>
              <a:t>:</a:t>
            </a:r>
          </a:p>
        </p:txBody>
      </p:sp>
      <p:graphicFrame>
        <p:nvGraphicFramePr>
          <p:cNvPr id="1048605" name="Table 1048604"/>
          <p:cNvGraphicFramePr>
            <a:graphicFrameLocks noGrp="1"/>
          </p:cNvGraphicFramePr>
          <p:nvPr/>
        </p:nvGraphicFramePr>
        <p:xfrm>
          <a:off x="640080" y="1234440"/>
          <a:ext cx="10881360" cy="5120640"/>
        </p:xfrm>
        <a:graphic>
          <a:graphicData uri="http://schemas.openxmlformats.org/drawingml/2006/table">
            <a:tbl>
              <a:tblPr firstRow="1" bandRow="1">
                <a:tableStyleId>{5C22544A-7EE6-4342-B048-85BDC9FD1C3A}</a:tableStyleId>
              </a:tblPr>
              <a:tblGrid>
                <a:gridCol w="2194560"/>
                <a:gridCol w="2926080"/>
                <a:gridCol w="2834640"/>
                <a:gridCol w="2926080"/>
              </a:tblGrid>
              <a:tr h="1024128">
                <a:tc>
                  <a:txBody>
                    <a:bodyPr wrap="square" anchor="ctr"/>
                    <a:lstStyle/>
                    <a:p>
                      <a:pPr algn="ctr"/>
                      <a:r>
                        <a:rPr sz="1550" b="1">
                          <a:solidFill>
                            <a:srgbClr val="FFFFFF"/>
                          </a:solidFill>
                          <a:latin typeface="Times New Roman"/>
                        </a:rPr>
                        <a:t>Prior System / Literature</a:t>
                      </a:r>
                    </a:p>
                  </a:txBody>
                  <a:tcPr>
                    <a:solidFill>
                      <a:srgbClr val="BE0F0F"/>
                    </a:solidFill>
                  </a:tcPr>
                </a:tc>
                <a:tc>
                  <a:txBody>
                    <a:bodyPr wrap="square" anchor="ctr"/>
                    <a:lstStyle/>
                    <a:p>
                      <a:pPr algn="ctr"/>
                      <a:r>
                        <a:rPr sz="1550" b="1">
                          <a:solidFill>
                            <a:srgbClr val="FFFFFF"/>
                          </a:solidFill>
                          <a:latin typeface="Times New Roman"/>
                        </a:rPr>
                        <a:t>Methodology &amp; Features</a:t>
                      </a:r>
                    </a:p>
                  </a:txBody>
                  <a:tcPr>
                    <a:solidFill>
                      <a:srgbClr val="BE0F0F"/>
                    </a:solidFill>
                  </a:tcPr>
                </a:tc>
                <a:tc>
                  <a:txBody>
                    <a:bodyPr wrap="square" anchor="ctr"/>
                    <a:lstStyle/>
                    <a:p>
                      <a:pPr algn="ctr"/>
                      <a:r>
                        <a:rPr sz="1550" b="1">
                          <a:solidFill>
                            <a:srgbClr val="FFFFFF"/>
                          </a:solidFill>
                          <a:latin typeface="Times New Roman"/>
                        </a:rPr>
                        <a:t>Key Advantages</a:t>
                      </a:r>
                    </a:p>
                  </a:txBody>
                  <a:tcPr>
                    <a:solidFill>
                      <a:srgbClr val="BE0F0F"/>
                    </a:solidFill>
                  </a:tcPr>
                </a:tc>
                <a:tc>
                  <a:txBody>
                    <a:bodyPr wrap="square" anchor="ctr"/>
                    <a:lstStyle/>
                    <a:p>
                      <a:pPr algn="ctr"/>
                      <a:r>
                        <a:rPr sz="1550" b="1">
                          <a:solidFill>
                            <a:srgbClr val="FFFFFF"/>
                          </a:solidFill>
                          <a:latin typeface="Times New Roman"/>
                        </a:rPr>
                        <a:t>Identified Gaps &amp; Limitations</a:t>
                      </a:r>
                    </a:p>
                  </a:txBody>
                  <a:tcPr>
                    <a:solidFill>
                      <a:srgbClr val="BE0F0F"/>
                    </a:solidFill>
                  </a:tcPr>
                </a:tc>
              </a:tr>
              <a:tr h="1024128">
                <a:tc>
                  <a:txBody>
                    <a:bodyPr wrap="square" anchor="ctr" lIns="109728" rIns="109728" tIns="91440" bIns="91440"/>
                    <a:lstStyle/>
                    <a:p>
                      <a:pPr algn="l"/>
                      <a:r>
                        <a:rPr sz="1300" b="0">
                          <a:solidFill>
                            <a:srgbClr val="1E1E1E"/>
                          </a:solidFill>
                          <a:latin typeface="Times New Roman"/>
                        </a:rPr>
                        <a:t>Commercial OTAs
(Expedia, TripAdvisor, MakeMyTrip)</a:t>
                      </a:r>
                    </a:p>
                  </a:txBody>
                  <a:tcPr>
                    <a:solidFill>
                      <a:srgbClr val="FFFFFF"/>
                    </a:solidFill>
                  </a:tcPr>
                </a:tc>
                <a:tc>
                  <a:txBody>
                    <a:bodyPr wrap="square" anchor="ctr" lIns="109728" rIns="109728" tIns="91440" bIns="91440"/>
                    <a:lstStyle/>
                    <a:p>
                      <a:pPr algn="l"/>
                      <a:r>
                        <a:rPr sz="1300" b="0">
                          <a:solidFill>
                            <a:srgbClr val="1E1E1E"/>
                          </a:solidFill>
                          <a:latin typeface="Times New Roman"/>
                        </a:rPr>
                        <a:t>• Centralized SQL database search
• Affiliate commission routing
• Independent siloed booking engines</a:t>
                      </a:r>
                    </a:p>
                  </a:txBody>
                  <a:tcPr>
                    <a:solidFill>
                      <a:srgbClr val="FFFFFF"/>
                    </a:solidFill>
                  </a:tcPr>
                </a:tc>
                <a:tc>
                  <a:txBody>
                    <a:bodyPr wrap="square" anchor="ctr" lIns="109728" rIns="109728" tIns="91440" bIns="91440"/>
                    <a:lstStyle/>
                    <a:p>
                      <a:pPr algn="l"/>
                      <a:r>
                        <a:rPr sz="1300" b="0">
                          <a:solidFill>
                            <a:srgbClr val="1E1E1E"/>
                          </a:solidFill>
                          <a:latin typeface="Times New Roman"/>
                        </a:rPr>
                        <a:t>• Massive global inventory
• Established user ratings &amp; reviews
• Reliable payment processing</a:t>
                      </a:r>
                    </a:p>
                  </a:txBody>
                  <a:tcPr>
                    <a:solidFill>
                      <a:srgbClr val="FFFFFF"/>
                    </a:solidFill>
                  </a:tcPr>
                </a:tc>
                <a:tc>
                  <a:txBody>
                    <a:bodyPr wrap="square" anchor="ctr" lIns="109728" rIns="109728" tIns="91440" bIns="91440"/>
                    <a:lstStyle/>
                    <a:p>
                      <a:pPr algn="l"/>
                      <a:r>
                        <a:rPr sz="1300" b="0">
                          <a:solidFill>
                            <a:srgbClr val="1E1E1E"/>
                          </a:solidFill>
                          <a:latin typeface="Times New Roman"/>
                        </a:rPr>
                        <a:t>• High budget threshold; rigid tour packages
• Zero automated budget allocation
• Completely ignores student discount programs</a:t>
                      </a:r>
                    </a:p>
                  </a:txBody>
                  <a:tcPr>
                    <a:solidFill>
                      <a:srgbClr val="FFFFFF"/>
                    </a:solidFill>
                  </a:tcPr>
                </a:tc>
              </a:tr>
              <a:tr h="1024128">
                <a:tc>
                  <a:txBody>
                    <a:bodyPr wrap="square" anchor="ctr" lIns="109728" rIns="109728" tIns="91440" bIns="91440"/>
                    <a:lstStyle/>
                    <a:p>
                      <a:pPr algn="l"/>
                      <a:r>
                        <a:rPr sz="1300" b="0">
                          <a:solidFill>
                            <a:srgbClr val="1E1E1E"/>
                          </a:solidFill>
                          <a:latin typeface="Times New Roman"/>
                        </a:rPr>
                        <a:t>AI Itinerary Engines
(TripHobo, Inspirock / Klarna)</a:t>
                      </a:r>
                    </a:p>
                  </a:txBody>
                  <a:tcPr>
                    <a:solidFill>
                      <a:srgbClr val="FAFAFC"/>
                    </a:solidFill>
                  </a:tcPr>
                </a:tc>
                <a:tc>
                  <a:txBody>
                    <a:bodyPr wrap="square" anchor="ctr" lIns="109728" rIns="109728" tIns="91440" bIns="91440"/>
                    <a:lstStyle/>
                    <a:p>
                      <a:pPr algn="l"/>
                      <a:r>
                        <a:rPr sz="1300" b="0">
                          <a:solidFill>
                            <a:srgbClr val="1E1E1E"/>
                          </a:solidFill>
                          <a:latin typeface="Times New Roman"/>
                        </a:rPr>
                        <a:t>• Heuristic location clustering
• Popularity-density POI sequencing
• Drag-and-drop web schedule UI</a:t>
                      </a:r>
                    </a:p>
                  </a:txBody>
                  <a:tcPr>
                    <a:solidFill>
                      <a:srgbClr val="FAFAFC"/>
                    </a:solidFill>
                  </a:tcPr>
                </a:tc>
                <a:tc>
                  <a:txBody>
                    <a:bodyPr wrap="square" anchor="ctr" lIns="109728" rIns="109728" tIns="91440" bIns="91440"/>
                    <a:lstStyle/>
                    <a:p>
                      <a:pPr algn="l"/>
                      <a:r>
                        <a:rPr sz="1300" b="0">
                          <a:solidFill>
                            <a:srgbClr val="1E1E1E"/>
                          </a:solidFill>
                          <a:latin typeface="Times New Roman"/>
                        </a:rPr>
                        <a:t>• Automated daily route sequencing
• Interactive map-based UI
• Visual travel timelines</a:t>
                      </a:r>
                    </a:p>
                  </a:txBody>
                  <a:tcPr>
                    <a:solidFill>
                      <a:srgbClr val="FAFAFC"/>
                    </a:solidFill>
                  </a:tcPr>
                </a:tc>
                <a:tc>
                  <a:txBody>
                    <a:bodyPr wrap="square" anchor="ctr" lIns="109728" rIns="109728" tIns="91440" bIns="91440"/>
                    <a:lstStyle/>
                    <a:p>
                      <a:pPr algn="l"/>
                      <a:r>
                        <a:rPr sz="1300" b="0">
                          <a:solidFill>
                            <a:srgbClr val="1E1E1E"/>
                          </a:solidFill>
                          <a:latin typeface="Times New Roman"/>
                        </a:rPr>
                        <a:t>• Biased towards commercial paid attractions
• Lacks real-time budget overrun detection
• Fails to generate contingency alternatives</a:t>
                      </a:r>
                    </a:p>
                  </a:txBody>
                  <a:tcPr>
                    <a:solidFill>
                      <a:srgbClr val="FAFAFC"/>
                    </a:solidFill>
                  </a:tcPr>
                </a:tc>
              </a:tr>
              <a:tr h="1024128">
                <a:tc>
                  <a:txBody>
                    <a:bodyPr wrap="square" anchor="ctr" lIns="109728" rIns="109728" tIns="91440" bIns="91440"/>
                    <a:lstStyle/>
                    <a:p>
                      <a:pPr algn="l"/>
                      <a:r>
                        <a:rPr sz="1300" b="0">
                          <a:solidFill>
                            <a:srgbClr val="1E1E1E"/>
                          </a:solidFill>
                          <a:latin typeface="Times New Roman"/>
                        </a:rPr>
                        <a:t>Academic Research
(Lim et al., Gavalas et al. - TOPTW)</a:t>
                      </a:r>
                    </a:p>
                  </a:txBody>
                  <a:tcPr>
                    <a:solidFill>
                      <a:srgbClr val="FFFFFF"/>
                    </a:solidFill>
                  </a:tcPr>
                </a:tc>
                <a:tc>
                  <a:txBody>
                    <a:bodyPr wrap="square" anchor="ctr" lIns="109728" rIns="109728" tIns="91440" bIns="91440"/>
                    <a:lstStyle/>
                    <a:p>
                      <a:pPr algn="l"/>
                      <a:r>
                        <a:rPr sz="1300" b="0">
                          <a:solidFill>
                            <a:srgbClr val="1E1E1E"/>
                          </a:solidFill>
                          <a:latin typeface="Times New Roman"/>
                        </a:rPr>
                        <a:t>• Team Orienteering Problem with Time Windows (TOPTW)
• Solved via Genetic Algorithms &amp; Meta-heuristics</a:t>
                      </a:r>
                    </a:p>
                  </a:txBody>
                  <a:tcPr>
                    <a:solidFill>
                      <a:srgbClr val="FFFFFF"/>
                    </a:solidFill>
                  </a:tcPr>
                </a:tc>
                <a:tc>
                  <a:txBody>
                    <a:bodyPr wrap="square" anchor="ctr" lIns="109728" rIns="109728" tIns="91440" bIns="91440"/>
                    <a:lstStyle/>
                    <a:p>
                      <a:pPr algn="l"/>
                      <a:r>
                        <a:rPr sz="1300" b="0">
                          <a:solidFill>
                            <a:srgbClr val="1E1E1E"/>
                          </a:solidFill>
                          <a:latin typeface="Times New Roman"/>
                        </a:rPr>
                        <a:t>• High mathematical optimization of POI travel time and satisfaction scores</a:t>
                      </a:r>
                    </a:p>
                  </a:txBody>
                  <a:tcPr>
                    <a:solidFill>
                      <a:srgbClr val="FFFFFF"/>
                    </a:solidFill>
                  </a:tcPr>
                </a:tc>
                <a:tc>
                  <a:txBody>
                    <a:bodyPr wrap="square" anchor="ctr" lIns="109728" rIns="109728" tIns="91440" bIns="91440"/>
                    <a:lstStyle/>
                    <a:p>
                      <a:pPr algn="l"/>
                      <a:r>
                        <a:rPr sz="1300" b="0">
                          <a:solidFill>
                            <a:srgbClr val="1E1E1E"/>
                          </a:solidFill>
                          <a:latin typeface="Times New Roman"/>
                        </a:rPr>
                        <a:t>• Purely topological routing without real costs
• Ignores student lodging, food models, buffer
• No full-stack deployable web interface</a:t>
                      </a:r>
                    </a:p>
                  </a:txBody>
                  <a:tcPr>
                    <a:solidFill>
                      <a:srgbClr val="FFFFFF"/>
                    </a:solidFill>
                  </a:tcPr>
                </a:tc>
              </a:tr>
              <a:tr h="1024128">
                <a:tc>
                  <a:txBody>
                    <a:bodyPr wrap="square" anchor="ctr" lIns="109728" rIns="109728" tIns="91440" bIns="91440"/>
                    <a:lstStyle/>
                    <a:p>
                      <a:pPr algn="l"/>
                      <a:r>
                        <a:rPr sz="1350" b="1">
                          <a:solidFill>
                            <a:srgbClr val="820A0A"/>
                          </a:solidFill>
                          <a:latin typeface="Times New Roman"/>
                        </a:rPr>
                        <a:t>Proposed AI Travel Planner
(Current Project)</a:t>
                      </a:r>
                    </a:p>
                  </a:txBody>
                  <a:tcPr>
                    <a:solidFill>
                      <a:srgbClr val="FEF6F6"/>
                    </a:solidFill>
                  </a:tcPr>
                </a:tc>
                <a:tc>
                  <a:txBody>
                    <a:bodyPr wrap="square" anchor="ctr" lIns="109728" rIns="109728" tIns="91440" bIns="91440"/>
                    <a:lstStyle/>
                    <a:p>
                      <a:pPr algn="l"/>
                      <a:r>
                        <a:rPr sz="1350" b="0">
                          <a:solidFill>
                            <a:srgbClr val="820A0A"/>
                          </a:solidFill>
                          <a:latin typeface="Times New Roman"/>
                        </a:rPr>
                        <a:t>• Deterministic 5-tier budget heuristic
• Automated student discount engine
• Companion-aware round-robin scheduler</a:t>
                      </a:r>
                    </a:p>
                  </a:txBody>
                  <a:tcPr>
                    <a:solidFill>
                      <a:srgbClr val="FEF6F6"/>
                    </a:solidFill>
                  </a:tcPr>
                </a:tc>
                <a:tc>
                  <a:txBody>
                    <a:bodyPr wrap="square" anchor="ctr" lIns="109728" rIns="109728" tIns="91440" bIns="91440"/>
                    <a:lstStyle/>
                    <a:p>
                      <a:pPr algn="l"/>
                      <a:r>
                        <a:rPr sz="1350" b="0">
                          <a:solidFill>
                            <a:srgbClr val="820A0A"/>
                          </a:solidFill>
                          <a:latin typeface="Times New Roman"/>
                        </a:rPr>
                        <a:t>• Sub-2s generation with 100% budget adherence
• Verified 15%–25% student savings
• Automated Plan-B alternative generation</a:t>
                      </a:r>
                    </a:p>
                  </a:txBody>
                  <a:tcPr>
                    <a:solidFill>
                      <a:srgbClr val="FEF6F6"/>
                    </a:solidFill>
                  </a:tcPr>
                </a:tc>
                <a:tc>
                  <a:txBody>
                    <a:bodyPr wrap="square" anchor="ctr" lIns="109728" rIns="109728" tIns="91440" bIns="91440"/>
                    <a:lstStyle/>
                    <a:p>
                      <a:pPr algn="l"/>
                      <a:r>
                        <a:rPr sz="1350" b="0">
                          <a:solidFill>
                            <a:srgbClr val="820A0A"/>
                          </a:solidFill>
                          <a:latin typeface="Times New Roman"/>
                        </a:rPr>
                        <a:t>• Solves all identified academic &amp; industry gaps
• Full-stack decoupled architecture (React + Express + PostgreSQL)</a:t>
                      </a:r>
                    </a:p>
                  </a:txBody>
                  <a:tcPr>
                    <a:solidFill>
                      <a:srgbClr val="FEF6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Pentagon 49"/>
          <p:cNvSpPr>
            <a:spLocks noGrp="1"/>
          </p:cNvSpPr>
          <p:nvPr>
            <p:ph type="title"/>
          </p:nvPr>
        </p:nvSpPr>
        <p:spPr>
          <a:xfrm>
            <a:off x="0" y="1"/>
            <a:ext cx="5253925" cy="74543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l"/>
            <a:r>
              <a:rPr lang="en-US" sz="4000" dirty="0">
                <a:latin typeface="Times New Roman" panose="02020603050405020304" pitchFamily="18" charset="0"/>
                <a:cs typeface="Times New Roman" panose="02020603050405020304" pitchFamily="18" charset="0"/>
              </a:rPr>
              <a:t>EXISTING SYSTEM :</a:t>
            </a:r>
          </a:p>
        </p:txBody>
      </p:sp>
      <p:sp>
        <p:nvSpPr>
          <p:cNvPr id="1048619" name="Rounded Rectangle 1048618"/>
          <p:cNvSpPr/>
          <p:nvPr/>
        </p:nvSpPr>
        <p:spPr>
          <a:xfrm>
            <a:off x="731520" y="1234440"/>
            <a:ext cx="10698480" cy="1170432"/>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ctr">
              <a:spcAft>
                <a:spcPts val="200"/>
              </a:spcAft>
            </a:pPr>
            <a:r>
              <a:rPr sz="1650" b="1">
                <a:solidFill>
                  <a:srgbClr val="BE0F0F"/>
                </a:solidFill>
                <a:latin typeface="Times New Roman"/>
              </a:rPr>
              <a:t>1. Manual Spreadsheets &amp; Fragmented Portals: </a:t>
            </a:r>
            <a:r>
              <a:rPr sz="1500">
                <a:solidFill>
                  <a:srgbClr val="4B4B4B"/>
                </a:solidFill>
                <a:latin typeface="Times New Roman"/>
              </a:rPr>
              <a:t>Travelers must independently research across 5–10 separate portals (Google Maps, Skyscanner, Booking.com, TripAdvisor, Zomato). Prices, operational hours, and transit legs are manually tracked in personal spreadsheets, leading to human error and omitted expenses.</a:t>
            </a:r>
          </a:p>
        </p:txBody>
      </p:sp>
      <p:sp>
        <p:nvSpPr>
          <p:cNvPr id="1048620" name="Rounded Rectangle 1048619"/>
          <p:cNvSpPr/>
          <p:nvPr/>
        </p:nvSpPr>
        <p:spPr>
          <a:xfrm>
            <a:off x="731520" y="2514600"/>
            <a:ext cx="10698480" cy="1170432"/>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ctr">
              <a:spcAft>
                <a:spcPts val="200"/>
              </a:spcAft>
            </a:pPr>
            <a:r>
              <a:rPr sz="1650" b="1">
                <a:solidFill>
                  <a:srgbClr val="BE0F0F"/>
                </a:solidFill>
                <a:latin typeface="Times New Roman"/>
              </a:rPr>
              <a:t>2. Rigid Commission-Driven Tour Packages: </a:t>
            </a:r>
            <a:r>
              <a:rPr sz="1500">
                <a:solidFill>
                  <a:srgbClr val="4B4B4B"/>
                </a:solidFill>
                <a:latin typeface="Times New Roman"/>
              </a:rPr>
              <a:t>Commercial travel agencies offer fixed, inflexible travel packages designed primarily to generate merchant affiliate commissions. These packages mandate rigid schedules, high accommodation rates, and luxury commercial attractions unsuitable for students.</a:t>
            </a:r>
          </a:p>
        </p:txBody>
      </p:sp>
      <p:sp>
        <p:nvSpPr>
          <p:cNvPr id="1048621" name="Rounded Rectangle 1048620"/>
          <p:cNvSpPr/>
          <p:nvPr/>
        </p:nvSpPr>
        <p:spPr>
          <a:xfrm>
            <a:off x="731520" y="3794760"/>
            <a:ext cx="10698480" cy="1170432"/>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ctr">
              <a:spcAft>
                <a:spcPts val="200"/>
              </a:spcAft>
            </a:pPr>
            <a:r>
              <a:rPr sz="1650" b="1">
                <a:solidFill>
                  <a:srgbClr val="BE0F0F"/>
                </a:solidFill>
                <a:latin typeface="Times New Roman"/>
              </a:rPr>
              <a:t>3. Isolated Booking &amp; Billing Silos: </a:t>
            </a:r>
            <a:r>
              <a:rPr sz="1500">
                <a:solidFill>
                  <a:srgbClr val="4B4B4B"/>
                </a:solidFill>
                <a:latin typeface="Times New Roman"/>
              </a:rPr>
              <a:t>Flights, trains, hotels, and museum entry passes operate in total isolation. There is no unified system architecture that tracks total cumulative expenditure against disposable travel funds in real time.</a:t>
            </a:r>
          </a:p>
        </p:txBody>
      </p:sp>
      <p:sp>
        <p:nvSpPr>
          <p:cNvPr id="1048622" name="Rounded Rectangle 1048621"/>
          <p:cNvSpPr/>
          <p:nvPr/>
        </p:nvSpPr>
        <p:spPr>
          <a:xfrm>
            <a:off x="731520" y="5074920"/>
            <a:ext cx="10698480" cy="1170432"/>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ctr">
              <a:spcAft>
                <a:spcPts val="200"/>
              </a:spcAft>
            </a:pPr>
            <a:r>
              <a:rPr sz="1650" b="1">
                <a:solidFill>
                  <a:srgbClr val="BE0F0F"/>
                </a:solidFill>
                <a:latin typeface="Times New Roman"/>
              </a:rPr>
              <a:t>4. Total Absence of Financial Guardrails: </a:t>
            </a:r>
            <a:r>
              <a:rPr sz="1500">
                <a:solidFill>
                  <a:srgbClr val="4B4B4B"/>
                </a:solidFill>
                <a:latin typeface="Times New Roman"/>
              </a:rPr>
              <a:t>Existing booking aggregators maximize transaction basket values rather than protecting traveler budgets. Users receive no proactive warnings when expenses exceed safe limits, resulting in mid-trip financial emergencies.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741DB-E157-39CB-63FA-943252352E0F}"/>
            </a:ext>
          </a:extLst>
        </p:cNvPr>
        <p:cNvGrpSpPr/>
        <p:nvPr/>
      </p:nvGrpSpPr>
      <p:grpSpPr>
        <a:xfrm>
          <a:off x="0" y="0"/>
          <a:ext cx="0" cy="0"/>
          <a:chOff x="0" y="0"/>
          <a:chExt cx="0" cy="0"/>
        </a:xfrm>
      </p:grpSpPr>
      <p:sp>
        <p:nvSpPr>
          <p:cNvPr id="1048618" name="Pentagon 49">
            <a:extLst>
              <a:ext uri="{FF2B5EF4-FFF2-40B4-BE49-F238E27FC236}">
                <a16:creationId xmlns:a16="http://schemas.microsoft.com/office/drawing/2014/main" id="{25EE032E-BE83-8449-0605-53C9D70A6417}"/>
              </a:ext>
            </a:extLst>
          </p:cNvPr>
          <p:cNvSpPr>
            <a:spLocks noGrp="1"/>
          </p:cNvSpPr>
          <p:nvPr>
            <p:ph type="title"/>
          </p:nvPr>
        </p:nvSpPr>
        <p:spPr>
          <a:xfrm>
            <a:off x="0" y="1"/>
            <a:ext cx="4742481" cy="74543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l"/>
            <a:r>
              <a:rPr lang="en-US" sz="4000" dirty="0">
                <a:latin typeface="Times New Roman" panose="02020603050405020304" pitchFamily="18" charset="0"/>
                <a:cs typeface="Times New Roman" panose="02020603050405020304" pitchFamily="18" charset="0"/>
              </a:rPr>
              <a:t>DISADVANTAGES:</a:t>
            </a:r>
          </a:p>
        </p:txBody>
      </p:sp>
      <p:sp>
        <p:nvSpPr>
          <p:cNvPr id="1048619" name="Rounded Rectangle 1048618"/>
          <p:cNvSpPr/>
          <p:nvPr/>
        </p:nvSpPr>
        <p:spPr>
          <a:xfrm>
            <a:off x="731520" y="1234440"/>
            <a:ext cx="10698480" cy="932688"/>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820A0A"/>
                </a:solidFill>
                <a:latin typeface="Times New Roman"/>
              </a:rPr>
              <a:t>⚠️ High Risk of Mid-Trip Financial Exhaustion: </a:t>
            </a:r>
            <a:r>
              <a:rPr sz="1500">
                <a:solidFill>
                  <a:srgbClr val="1E1E1E"/>
                </a:solidFill>
                <a:latin typeface="Times New Roman"/>
              </a:rPr>
              <a:t>Absence of category budget allocation causes travelers to overspend early on lodging and transit, leaving inadequate funds for food and sightseeing.</a:t>
            </a:r>
          </a:p>
        </p:txBody>
      </p:sp>
      <p:sp>
        <p:nvSpPr>
          <p:cNvPr id="1048620" name="Rounded Rectangle 1048619"/>
          <p:cNvSpPr/>
          <p:nvPr/>
        </p:nvSpPr>
        <p:spPr>
          <a:xfrm>
            <a:off x="731520" y="2258568"/>
            <a:ext cx="10698480" cy="932688"/>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820A0A"/>
                </a:solidFill>
                <a:latin typeface="Times New Roman"/>
              </a:rPr>
              <a:t>⚠️ Extreme Time Overhead &amp; Cognitive Fatigue: </a:t>
            </a:r>
            <a:r>
              <a:rPr sz="1500">
                <a:solidFill>
                  <a:srgbClr val="1E1E1E"/>
                </a:solidFill>
                <a:latin typeface="Times New Roman"/>
              </a:rPr>
              <a:t>Planning an optimal 4-to-7 day journey demands 15–25 hours of repetitive manual cross-referencing across multiple browser tabs and conflicting reviews.</a:t>
            </a:r>
          </a:p>
        </p:txBody>
      </p:sp>
      <p:sp>
        <p:nvSpPr>
          <p:cNvPr id="1048621" name="Rounded Rectangle 1048620"/>
          <p:cNvSpPr/>
          <p:nvPr/>
        </p:nvSpPr>
        <p:spPr>
          <a:xfrm>
            <a:off x="731520" y="3282696"/>
            <a:ext cx="10698480" cy="932688"/>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820A0A"/>
                </a:solidFill>
                <a:latin typeface="Times New Roman"/>
              </a:rPr>
              <a:t>⚠️ Omission of Student-Specific Concessions: </a:t>
            </a:r>
            <a:r>
              <a:rPr sz="1500">
                <a:solidFill>
                  <a:srgbClr val="1E1E1E"/>
                </a:solidFill>
                <a:latin typeface="Times New Roman"/>
              </a:rPr>
              <a:t>Commercial travel platforms fail to detect or apply student discounts (15%–25%), forcing students to pay standard adult commercial rates across transit and venues.</a:t>
            </a:r>
          </a:p>
        </p:txBody>
      </p:sp>
      <p:sp>
        <p:nvSpPr>
          <p:cNvPr id="1048622" name="Rounded Rectangle 1048621"/>
          <p:cNvSpPr/>
          <p:nvPr/>
        </p:nvSpPr>
        <p:spPr>
          <a:xfrm>
            <a:off x="731520" y="4306824"/>
            <a:ext cx="10698480" cy="932688"/>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820A0A"/>
                </a:solidFill>
                <a:latin typeface="Times New Roman"/>
              </a:rPr>
              <a:t>⚠️ Inflexible 'One-Size-Fits-All' Itineraries: </a:t>
            </a:r>
            <a:r>
              <a:rPr sz="1500">
                <a:solidFill>
                  <a:srgbClr val="1E1E1E"/>
                </a:solidFill>
                <a:latin typeface="Times New Roman"/>
              </a:rPr>
              <a:t>Current systems fail to customize recommendations for different travel dynamics (solo backpacker safety vs. student friend group adventure vs. couple relaxation).</a:t>
            </a:r>
          </a:p>
        </p:txBody>
      </p:sp>
      <p:sp>
        <p:nvSpPr>
          <p:cNvPr id="1048623" name="Rounded Rectangle 1048622"/>
          <p:cNvSpPr/>
          <p:nvPr/>
        </p:nvSpPr>
        <p:spPr>
          <a:xfrm>
            <a:off x="731520" y="5330952"/>
            <a:ext cx="10698480" cy="932688"/>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820A0A"/>
                </a:solidFill>
                <a:latin typeface="Times New Roman"/>
              </a:rPr>
              <a:t>⚠️ Complete Lack of Automated Fallback Plans: </a:t>
            </a:r>
            <a:r>
              <a:rPr sz="1500">
                <a:solidFill>
                  <a:srgbClr val="1E1E1E"/>
                </a:solidFill>
                <a:latin typeface="Times New Roman"/>
              </a:rPr>
              <a:t>When desired plans or destinations exceed available funds, existing platforms offer zero automated corrective alternatives, forcing users to restart planning from scratch.</a:t>
            </a:r>
          </a:p>
        </p:txBody>
      </p:sp>
    </p:spTree>
    <p:extLst>
      <p:ext uri="{BB962C8B-B14F-4D97-AF65-F5344CB8AC3E}">
        <p14:creationId xmlns:p14="http://schemas.microsoft.com/office/powerpoint/2010/main" val="1019541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611E-D4E9-1E80-9E0C-02F801070619}"/>
            </a:ext>
          </a:extLst>
        </p:cNvPr>
        <p:cNvGrpSpPr/>
        <p:nvPr/>
      </p:nvGrpSpPr>
      <p:grpSpPr>
        <a:xfrm>
          <a:off x="0" y="0"/>
          <a:ext cx="0" cy="0"/>
          <a:chOff x="0" y="0"/>
          <a:chExt cx="0" cy="0"/>
        </a:xfrm>
      </p:grpSpPr>
      <p:sp>
        <p:nvSpPr>
          <p:cNvPr id="1048618" name="Pentagon 49">
            <a:extLst>
              <a:ext uri="{FF2B5EF4-FFF2-40B4-BE49-F238E27FC236}">
                <a16:creationId xmlns:a16="http://schemas.microsoft.com/office/drawing/2014/main" id="{61F82E3B-06F7-5197-2C2F-8F59B78A2F66}"/>
              </a:ext>
            </a:extLst>
          </p:cNvPr>
          <p:cNvSpPr>
            <a:spLocks noGrp="1"/>
          </p:cNvSpPr>
          <p:nvPr>
            <p:ph type="title"/>
          </p:nvPr>
        </p:nvSpPr>
        <p:spPr>
          <a:xfrm>
            <a:off x="0" y="1"/>
            <a:ext cx="5439905" cy="74543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l"/>
            <a:r>
              <a:rPr lang="en-US" sz="4000" dirty="0">
                <a:latin typeface="Times New Roman" panose="02020603050405020304" pitchFamily="18" charset="0"/>
                <a:cs typeface="Times New Roman" panose="02020603050405020304" pitchFamily="18" charset="0"/>
              </a:rPr>
              <a:t>PROPOSED SYSTEM :</a:t>
            </a:r>
          </a:p>
        </p:txBody>
      </p:sp>
      <p:sp>
        <p:nvSpPr>
          <p:cNvPr id="1048619" name="Rounded Rectangle 1048618"/>
          <p:cNvSpPr/>
          <p:nvPr/>
        </p:nvSpPr>
        <p:spPr>
          <a:xfrm>
            <a:off x="731520" y="1234440"/>
            <a:ext cx="10698480" cy="93268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BE0F0F"/>
                </a:solidFill>
                <a:latin typeface="Times New Roman"/>
              </a:rPr>
              <a:t>✅ Deterministic Smart Budget Allocation: </a:t>
            </a:r>
            <a:r>
              <a:rPr sz="1500">
                <a:solidFill>
                  <a:srgbClr val="4B4B4B"/>
                </a:solidFill>
                <a:latin typeface="Times New Roman"/>
              </a:rPr>
              <a:t>Algorithmically partitions capital into 5 precise quotas: 25% Transport, 35% Accommodation, 25% Food, 10% Activities, and 5% Emergency Buffer, guaranteeing budget compliance.</a:t>
            </a:r>
          </a:p>
        </p:txBody>
      </p:sp>
      <p:sp>
        <p:nvSpPr>
          <p:cNvPr id="1048620" name="Rounded Rectangle 1048619"/>
          <p:cNvSpPr/>
          <p:nvPr/>
        </p:nvSpPr>
        <p:spPr>
          <a:xfrm>
            <a:off x="731520" y="2258568"/>
            <a:ext cx="10698480" cy="93268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BE0F0F"/>
                </a:solidFill>
                <a:latin typeface="Times New Roman"/>
              </a:rPr>
              <a:t>✅ Dynamic Student Concession Engine: </a:t>
            </a:r>
            <a:r>
              <a:rPr sz="1500">
                <a:solidFill>
                  <a:srgbClr val="4B4B4B"/>
                </a:solidFill>
                <a:latin typeface="Times New Roman"/>
              </a:rPr>
              <a:t>Inbuilt discount evaluation module automatically identifies and applies verified 15%–25% concessions to public transit fares and state cultural heritage admissions.</a:t>
            </a:r>
          </a:p>
        </p:txBody>
      </p:sp>
      <p:sp>
        <p:nvSpPr>
          <p:cNvPr id="1048621" name="Rounded Rectangle 1048620"/>
          <p:cNvSpPr/>
          <p:nvPr/>
        </p:nvSpPr>
        <p:spPr>
          <a:xfrm>
            <a:off x="731520" y="3282696"/>
            <a:ext cx="10698480" cy="93268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BE0F0F"/>
                </a:solidFill>
                <a:latin typeface="Times New Roman"/>
              </a:rPr>
              <a:t>✅ Balanced Day-by-Day Activity Scheduling: </a:t>
            </a:r>
            <a:r>
              <a:rPr sz="1500">
                <a:solidFill>
                  <a:srgbClr val="4B4B4B"/>
                </a:solidFill>
                <a:latin typeface="Times New Roman"/>
              </a:rPr>
              <a:t>Intelligently sequences curated activities across Adventure, Culture, Gastronomy, and Nature using round-robin distribution to prevent activity fatigue.</a:t>
            </a:r>
          </a:p>
        </p:txBody>
      </p:sp>
      <p:sp>
        <p:nvSpPr>
          <p:cNvPr id="1048622" name="Rounded Rectangle 1048621"/>
          <p:cNvSpPr/>
          <p:nvPr/>
        </p:nvSpPr>
        <p:spPr>
          <a:xfrm>
            <a:off x="731520" y="4306824"/>
            <a:ext cx="10698480" cy="93268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BE0F0F"/>
                </a:solidFill>
                <a:latin typeface="Times New Roman"/>
              </a:rPr>
              <a:t>✅ Automated Contingency Alternative Generator: </a:t>
            </a:r>
            <a:r>
              <a:rPr sz="1500">
                <a:solidFill>
                  <a:srgbClr val="4B4B4B"/>
                </a:solidFill>
                <a:latin typeface="Times New Roman"/>
              </a:rPr>
              <a:t>Instantly detects budget breaches and synthesizes 3 actionable Plan-B alternatives: trip length trimming, free landmark substitution, or lower-cost destination hubs.</a:t>
            </a:r>
          </a:p>
        </p:txBody>
      </p:sp>
      <p:sp>
        <p:nvSpPr>
          <p:cNvPr id="1048623" name="Rounded Rectangle 1048622"/>
          <p:cNvSpPr/>
          <p:nvPr/>
        </p:nvSpPr>
        <p:spPr>
          <a:xfrm>
            <a:off x="731520" y="5330952"/>
            <a:ext cx="10698480" cy="93268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ctr"/>
            <a:r>
              <a:rPr sz="1600" b="1">
                <a:solidFill>
                  <a:srgbClr val="BE0F0F"/>
                </a:solidFill>
                <a:latin typeface="Times New Roman"/>
              </a:rPr>
              <a:t>✅ Decoupled Full-Stack Architecture: </a:t>
            </a:r>
            <a:r>
              <a:rPr sz="1500">
                <a:solidFill>
                  <a:srgbClr val="4B4B4B"/>
                </a:solidFill>
                <a:latin typeface="Times New Roman"/>
              </a:rPr>
              <a:t>Responsive React.js SPA providing interactive tabbed visualizations, coupled with a Node.js/Express.js REST API engine and PostgreSQL database with JWT security.</a:t>
            </a:r>
          </a:p>
        </p:txBody>
      </p:sp>
    </p:spTree>
    <p:extLst>
      <p:ext uri="{BB962C8B-B14F-4D97-AF65-F5344CB8AC3E}">
        <p14:creationId xmlns:p14="http://schemas.microsoft.com/office/powerpoint/2010/main" val="2304556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D32A-D427-896D-405D-171C6A3F86AF}"/>
            </a:ext>
          </a:extLst>
        </p:cNvPr>
        <p:cNvGrpSpPr/>
        <p:nvPr/>
      </p:nvGrpSpPr>
      <p:grpSpPr>
        <a:xfrm>
          <a:off x="0" y="0"/>
          <a:ext cx="0" cy="0"/>
          <a:chOff x="0" y="0"/>
          <a:chExt cx="0" cy="0"/>
        </a:xfrm>
      </p:grpSpPr>
      <p:sp>
        <p:nvSpPr>
          <p:cNvPr id="1048618" name="Pentagon 49">
            <a:extLst>
              <a:ext uri="{FF2B5EF4-FFF2-40B4-BE49-F238E27FC236}">
                <a16:creationId xmlns:a16="http://schemas.microsoft.com/office/drawing/2014/main" id="{6D055E07-F9AB-3D7A-0232-EDAD26DF1559}"/>
              </a:ext>
            </a:extLst>
          </p:cNvPr>
          <p:cNvSpPr>
            <a:spLocks noGrp="1"/>
          </p:cNvSpPr>
          <p:nvPr>
            <p:ph type="title"/>
          </p:nvPr>
        </p:nvSpPr>
        <p:spPr>
          <a:xfrm>
            <a:off x="1" y="1"/>
            <a:ext cx="3952068" cy="74543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l"/>
            <a:r>
              <a:rPr lang="en-US" sz="4000" dirty="0">
                <a:latin typeface="Times New Roman" panose="02020603050405020304" pitchFamily="18" charset="0"/>
                <a:cs typeface="Times New Roman" panose="02020603050405020304" pitchFamily="18" charset="0"/>
              </a:rPr>
              <a:t>ADVANTAGES:</a:t>
            </a:r>
          </a:p>
        </p:txBody>
      </p:sp>
      <p:sp>
        <p:nvSpPr>
          <p:cNvPr id="1048619" name="Rounded Rectangle 1048618"/>
          <p:cNvSpPr/>
          <p:nvPr/>
        </p:nvSpPr>
        <p:spPr>
          <a:xfrm>
            <a:off x="731520" y="123444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Instant Synthesis (&lt; 2s)</a:t>
            </a:r>
          </a:p>
          <a:p>
            <a:r>
              <a:rPr sz="1450">
                <a:solidFill>
                  <a:srgbClr val="4B4B4B"/>
                </a:solidFill>
                <a:latin typeface="Times New Roman"/>
              </a:rPr>
              <a:t>Reduces trip planning duration from 20+ hours of manual research to a single click, instantly computing day-wise schedules and granular pricing.</a:t>
            </a:r>
          </a:p>
        </p:txBody>
      </p:sp>
      <p:sp>
        <p:nvSpPr>
          <p:cNvPr id="1048620" name="Rounded Rectangle 1048619"/>
          <p:cNvSpPr/>
          <p:nvPr/>
        </p:nvSpPr>
        <p:spPr>
          <a:xfrm>
            <a:off x="6217920" y="123444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Guaranteed Financial Control</a:t>
            </a:r>
          </a:p>
          <a:p>
            <a:r>
              <a:rPr sz="1450">
                <a:solidFill>
                  <a:srgbClr val="4B4B4B"/>
                </a:solidFill>
                <a:latin typeface="Times New Roman"/>
              </a:rPr>
              <a:t>Categorical budget enforcement eliminates unexpected expenses, providing complete cost transparency and per-meal/per-day budget limits.</a:t>
            </a:r>
          </a:p>
        </p:txBody>
      </p:sp>
      <p:sp>
        <p:nvSpPr>
          <p:cNvPr id="1048621" name="Rounded Rectangle 1048620"/>
          <p:cNvSpPr/>
          <p:nvPr/>
        </p:nvSpPr>
        <p:spPr>
          <a:xfrm>
            <a:off x="731520" y="292608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Up to 35% Student Savings</a:t>
            </a:r>
          </a:p>
          <a:p>
            <a:r>
              <a:rPr sz="1450">
                <a:solidFill>
                  <a:srgbClr val="4B4B4B"/>
                </a:solidFill>
                <a:latin typeface="Times New Roman"/>
              </a:rPr>
              <a:t>Automated student discount integration combined with verified budget hostels and local street food trails significantly enhances purchasing power.</a:t>
            </a:r>
          </a:p>
        </p:txBody>
      </p:sp>
      <p:sp>
        <p:nvSpPr>
          <p:cNvPr id="1048622" name="Rounded Rectangle 1048621"/>
          <p:cNvSpPr/>
          <p:nvPr/>
        </p:nvSpPr>
        <p:spPr>
          <a:xfrm>
            <a:off x="6217920" y="292608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Companion-Aware Personalization</a:t>
            </a:r>
          </a:p>
          <a:p>
            <a:r>
              <a:rPr sz="1450">
                <a:solidFill>
                  <a:srgbClr val="4B4B4B"/>
                </a:solidFill>
                <a:latin typeface="Times New Roman"/>
              </a:rPr>
              <a:t>Dynamically adapts pacing and activities for Solo (safety/hostels), Friends (adventure/group dining), Couple (scenic/relaxed), or Family travelers.</a:t>
            </a:r>
          </a:p>
        </p:txBody>
      </p:sp>
      <p:sp>
        <p:nvSpPr>
          <p:cNvPr id="1048623" name="Rounded Rectangle 1048622"/>
          <p:cNvSpPr/>
          <p:nvPr/>
        </p:nvSpPr>
        <p:spPr>
          <a:xfrm>
            <a:off x="731520" y="461772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Resilient Fallback Protection</a:t>
            </a:r>
          </a:p>
          <a:p>
            <a:r>
              <a:rPr sz="1450">
                <a:solidFill>
                  <a:srgbClr val="4B4B4B"/>
                </a:solidFill>
                <a:latin typeface="Times New Roman"/>
              </a:rPr>
              <a:t>Built-in alternative generators ensure travelers always have viable lower-cost options within their financial capacity without restarting from scratch.</a:t>
            </a:r>
          </a:p>
        </p:txBody>
      </p:sp>
      <p:sp>
        <p:nvSpPr>
          <p:cNvPr id="1048624" name="Rounded Rectangle 1048623"/>
          <p:cNvSpPr/>
          <p:nvPr/>
        </p:nvSpPr>
        <p:spPr>
          <a:xfrm>
            <a:off x="6217920" y="4617720"/>
            <a:ext cx="5212080" cy="1572768"/>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650" b="1">
                <a:solidFill>
                  <a:srgbClr val="BE0F0F"/>
                </a:solidFill>
                <a:latin typeface="Times New Roman"/>
              </a:rPr>
              <a:t>📱 Modern Multi-Tab User Experience</a:t>
            </a:r>
          </a:p>
          <a:p>
            <a:r>
              <a:rPr sz="1450">
                <a:solidFill>
                  <a:srgbClr val="4B4B4B"/>
                </a:solidFill>
                <a:latin typeface="Times New Roman"/>
              </a:rPr>
              <a:t>Clean, responsive React interface featuring multi-tab views: Overview, Cost Breakdown Charts, Day-by-Day Cards, and Money-Saving Tips.</a:t>
            </a:r>
          </a:p>
        </p:txBody>
      </p:sp>
    </p:spTree>
    <p:extLst>
      <p:ext uri="{BB962C8B-B14F-4D97-AF65-F5344CB8AC3E}">
        <p14:creationId xmlns:p14="http://schemas.microsoft.com/office/powerpoint/2010/main" val="15688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Pentagon 49"/>
          <p:cNvSpPr>
            <a:spLocks noGrp="1"/>
          </p:cNvSpPr>
          <p:nvPr>
            <p:ph type="title"/>
          </p:nvPr>
        </p:nvSpPr>
        <p:spPr>
          <a:xfrm>
            <a:off x="0" y="1"/>
            <a:ext cx="7198468" cy="768484"/>
          </a:xfrm>
          <a:prstGeom prst="homePlate">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4000" dirty="0">
                <a:latin typeface="Times New Roman" panose="02020603050405020304" pitchFamily="18" charset="0"/>
                <a:cs typeface="Times New Roman" panose="02020603050405020304" pitchFamily="18" charset="0"/>
              </a:rPr>
              <a:t>SYSTEM ARCHITECTURE:</a:t>
            </a:r>
          </a:p>
        </p:txBody>
      </p:sp>
      <p:pic>
        <p:nvPicPr>
          <p:cNvPr id="1048624" name="Picture 1048623" descr="system_architecture.png"/>
          <p:cNvPicPr>
            <a:picLocks noChangeAspect="1"/>
          </p:cNvPicPr>
          <p:nvPr/>
        </p:nvPicPr>
        <p:blipFill>
          <a:blip r:embed="rId2"/>
          <a:stretch>
            <a:fillRect/>
          </a:stretch>
        </p:blipFill>
        <p:spPr>
          <a:xfrm>
            <a:off x="731520" y="1097280"/>
            <a:ext cx="10698480" cy="5303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a:xfrm>
            <a:off x="838200" y="1195070"/>
            <a:ext cx="7472423" cy="4706620"/>
          </a:xfrm>
        </p:spPr>
        <p:txBody>
          <a:bodyPr>
            <a:noAutofit/>
          </a:bodyPr>
          <a:lstStyle/>
          <a:p>
            <a:pPr algn="ctr"/>
            <a:r>
              <a:rPr lang="en-US" sz="8800" b="1" dirty="0">
                <a:solidFill>
                  <a:srgbClr val="FF0000"/>
                </a:solidFill>
                <a:latin typeface="Times New Roman" panose="02020603050405020304" pitchFamily="18" charset="0"/>
                <a:cs typeface="Times New Roman" panose="02020603050405020304" pitchFamily="18" charset="0"/>
              </a:rPr>
              <a:t>Any Queries</a:t>
            </a:r>
          </a:p>
        </p:txBody>
      </p:sp>
      <mc:AlternateContent xmlns:mc="http://schemas.openxmlformats.org/markup-compatibility/2006">
        <mc:Choice xmlns:am3d="http://schemas.microsoft.com/office/drawing/2017/model3d" Requires="am3d">
          <p:graphicFrame>
            <p:nvGraphicFramePr>
              <p:cNvPr id="4194304" name="3D Model 2" descr="Red Question mark"/>
              <p:cNvGraphicFramePr>
                <a:graphicFrameLocks noChangeAspect="1"/>
              </p:cNvGraphicFramePr>
              <p:nvPr/>
            </p:nvGraphicFramePr>
            <p:xfrm>
              <a:off x="6714335" y="1344247"/>
              <a:ext cx="2698719" cy="4408266"/>
            </p:xfrm>
            <a:graphic>
              <a:graphicData uri="http://schemas.microsoft.com/office/drawing/2017/model3d">
                <am3d:model3d r:embed="rId2">
                  <am3d:spPr>
                    <a:xfrm>
                      <a:off x="0" y="0"/>
                      <a:ext cx="2698719" cy="4408266"/>
                    </a:xfrm>
                    <a:prstGeom prst="rect">
                      <a:avLst/>
                    </a:prstGeom>
                  </am3d:spPr>
                  <am3d:camera>
                    <am3d:pos x="0" y="0" z="55389530"/>
                    <am3d:up dx="0" dy="36000000" dz="0"/>
                    <am3d:lookAt x="0" y="0" z="0"/>
                    <am3d:perspective fov="2700000"/>
                  </am3d:camera>
                  <am3d:trans>
                    <am3d:meterPerModelUnit n="3517042" d="1000000"/>
                    <am3d:preTrans dx="0" dy="-18004113" dz="-4973"/>
                    <am3d:scale>
                      <am3d:sx n="1000000" d="1000000"/>
                      <am3d:sy n="1000000" d="1000000"/>
                      <am3d:sz n="1000000" d="1000000"/>
                    </am3d:scale>
                    <am3d:rot ax="-3" ay="239966" az="-8"/>
                    <am3d:postTrans dx="0" dy="0" dz="0"/>
                  </am3d:trans>
                  <am3d:raster rName="Office3DRenderer" rVer="16.0.8326">
                    <am3d:blip r:embed="rId3"/>
                  </am3d:raster>
                  <am3d:objViewport viewportSz="541750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194304" name="3D Model 2" descr="Red Question mark"/>
              <p:cNvPicPr>
                <a:picLocks noGrp="1" noRot="1" noChangeAspect="1" noMove="1" noResize="1" noEditPoints="1" noAdjustHandles="1" noChangeArrowheads="1" noChangeShapeType="1" noCrop="1"/>
              </p:cNvPicPr>
              <p:nvPr/>
            </p:nvPicPr>
            <p:blipFill>
              <a:blip r:embed="rId3"/>
              <a:stretch>
                <a:fillRect/>
              </a:stretch>
            </p:blipFill>
            <p:spPr>
              <a:xfrm>
                <a:off x="6714335" y="1344247"/>
                <a:ext cx="2698719" cy="4408266"/>
              </a:xfrm>
              <a:prstGeom prst="rect">
                <a:avLst/>
              </a:prstGeom>
            </p:spPr>
          </p:pic>
        </mc:Fallback>
      </mc:AlternateContent>
      <p:sp>
        <p:nvSpPr>
          <p:cNvPr id="4194305" name="Rounded Rectangle 4194304"/>
          <p:cNvSpPr/>
          <p:nvPr/>
        </p:nvSpPr>
        <p:spPr>
          <a:xfrm>
            <a:off x="822960" y="3931920"/>
            <a:ext cx="5486400" cy="2011680"/>
          </a:xfrm>
          <a:prstGeom prst="roundRect">
            <a:avLst/>
          </a:prstGeom>
          <a:solidFill>
            <a:srgbClr val="FEF6F6"/>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spcAft>
                <a:spcPts val="400"/>
              </a:spcAft>
            </a:pPr>
            <a:r>
              <a:rPr sz="1650" b="1">
                <a:solidFill>
                  <a:srgbClr val="BE0F0F"/>
                </a:solidFill>
                <a:latin typeface="Times New Roman"/>
              </a:rPr>
              <a:t>Project: AI Travel Planner for Students</a:t>
            </a:r>
          </a:p>
          <a:p>
            <a:pPr algn="l">
              <a:spcAft>
                <a:spcPts val="400"/>
              </a:spcAft>
            </a:pPr>
            <a:r>
              <a:rPr sz="1350">
                <a:solidFill>
                  <a:srgbClr val="1E1E1E"/>
                </a:solidFill>
                <a:latin typeface="Times New Roman"/>
              </a:rPr>
              <a:t>• Open Source: https://github.com/Harii-0323/Ai_travel_planner.git
• Tech Stack: React.js | Express.js | PostgreSQL | AI Planner
• We welcome questions, suggestions, and feedback!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Title 1"/>
          <p:cNvSpPr>
            <a:spLocks noGrp="1"/>
          </p:cNvSpPr>
          <p:nvPr>
            <p:ph type="title"/>
          </p:nvPr>
        </p:nvSpPr>
        <p:spPr>
          <a:xfrm>
            <a:off x="838200" y="1195070"/>
            <a:ext cx="10515600" cy="4706620"/>
          </a:xfrm>
        </p:spPr>
        <p:txBody>
          <a:bodyPr>
            <a:noAutofit/>
          </a:bodyPr>
          <a:lstStyle/>
          <a:p>
            <a:pPr algn="ctr"/>
            <a:br>
              <a:rPr lang="en-US" sz="8800" b="1" dirty="0">
                <a:solidFill>
                  <a:srgbClr val="FF0000"/>
                </a:solidFill>
                <a:latin typeface="Times New Roman" panose="02020603050405020304" pitchFamily="18" charset="0"/>
                <a:cs typeface="Times New Roman" panose="02020603050405020304" pitchFamily="18" charset="0"/>
              </a:rPr>
            </a:br>
            <a:r>
              <a:rPr lang="en-US" sz="8800" b="1" dirty="0">
                <a:solidFill>
                  <a:srgbClr val="FF0000"/>
                </a:solidFill>
                <a:latin typeface="Times New Roman" panose="02020603050405020304" pitchFamily="18" charset="0"/>
                <a:cs typeface="Times New Roman" panose="02020603050405020304" pitchFamily="18" charset="0"/>
              </a:rPr>
              <a:t>Thank You</a:t>
            </a:r>
            <a:br>
              <a:rPr lang="en-US" sz="8800" b="1" dirty="0">
                <a:solidFill>
                  <a:srgbClr val="FF0000"/>
                </a:solidFill>
                <a:latin typeface="Times New Roman" panose="02020603050405020304" pitchFamily="18" charset="0"/>
                <a:cs typeface="Times New Roman" panose="02020603050405020304" pitchFamily="18" charset="0"/>
              </a:rPr>
            </a:br>
            <a:endParaRPr lang="en-US" sz="9600" b="1" dirty="0">
              <a:solidFill>
                <a:srgbClr val="FF0000"/>
              </a:solidFill>
              <a:latin typeface="Times New Roman" panose="02020603050405020304" pitchFamily="18" charset="0"/>
              <a:cs typeface="Times New Roman" panose="02020603050405020304" pitchFamily="18" charset="0"/>
            </a:endParaRPr>
          </a:p>
        </p:txBody>
      </p:sp>
      <p:sp>
        <p:nvSpPr>
          <p:cNvPr id="1048689" name="Rounded Rectangle 1048688"/>
          <p:cNvSpPr/>
          <p:nvPr/>
        </p:nvSpPr>
        <p:spPr>
          <a:xfrm>
            <a:off x="1371600" y="4754880"/>
            <a:ext cx="8412480" cy="1188720"/>
          </a:xfrm>
          <a:prstGeom prst="roundRect">
            <a:avLst/>
          </a:prstGeom>
          <a:solidFill>
            <a:srgbClr val="FAFAFC"/>
          </a:solidFill>
          <a:ln w="15240">
            <a:solidFill>
              <a:srgbClr val="F0B9B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spcAft>
                <a:spcPts val="200"/>
              </a:spcAft>
            </a:pPr>
            <a:r>
              <a:rPr sz="1700" b="1">
                <a:solidFill>
                  <a:srgbClr val="BE0F0F"/>
                </a:solidFill>
                <a:latin typeface="Times New Roman"/>
              </a:rPr>
              <a:t>Thank you for your time and valuable evaluation!</a:t>
            </a:r>
          </a:p>
          <a:p>
            <a:pPr algn="ctr"/>
            <a:r>
              <a:rPr sz="1500">
                <a:solidFill>
                  <a:srgbClr val="1E1E1E"/>
                </a:solidFill>
                <a:latin typeface="Times New Roman"/>
              </a:rPr>
              <a:t>Department of Computer Science and Engineering
Guru Nanak Institutions Technical Campus (Autonomous)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Words>
  <Application>Microsoft Macintosh PowerPoint</Application>
  <PresentationFormat>Widescreen</PresentationFormat>
  <Paragraphs>23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Major Project Presentation On TITLE  </vt:lpstr>
      <vt:lpstr>PowerPoint Presentation</vt:lpstr>
      <vt:lpstr>PowerPoint Presentation</vt:lpstr>
      <vt:lpstr>PowerPoint Presentation</vt:lpstr>
      <vt:lpstr>PowerPoint Presentation</vt:lpstr>
      <vt:lpstr>PowerPoint Presentation</vt:lpstr>
      <vt:lpstr>EXISTING SYSTEM :</vt:lpstr>
      <vt:lpstr>DISADVANTAGES:</vt:lpstr>
      <vt:lpstr>PROPOSED SYSTEM :</vt:lpstr>
      <vt:lpstr>ADVANTAGES:</vt:lpstr>
      <vt:lpstr>SYSTEM ARCHITECTURE:</vt:lpstr>
      <vt:lpstr>Any Queries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 Tumor Detection Using Convolutional Neural Networks</dc:title>
  <dc:creator>ashritha</dc:creator>
  <cp:lastModifiedBy>Hyma Omkaram</cp:lastModifiedBy>
  <cp:revision>1</cp:revision>
  <dcterms:created xsi:type="dcterms:W3CDTF">2020-02-19T08:08:00Z</dcterms:created>
  <dcterms:modified xsi:type="dcterms:W3CDTF">2026-09-17T07:50:01Z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1033-11.2.0.10382</vt:lpwstr>
  </property>
  <property fmtid="{D5CDD505-2E9C-101B-9397-08002B2CF9AE}" pid="3" name="ICV">
    <vt:lpwstr>BFBD0B4FC6A14DBA9A479DE3CD170D75</vt:lpwstr>
  </property>
</Properties>
</file>